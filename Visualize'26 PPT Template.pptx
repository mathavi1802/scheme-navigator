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OpenSymbol" pitchFamily="2" charset="2"/>
      <p:regular r:id="rId13"/>
    </p:embeddedFont>
    <p:embeddedFont>
      <p:font typeface="Calibri" pitchFamily="34" charset="0"/>
      <p:regular r:id="rId14"/>
      <p:bold r:id="rId15"/>
      <p:italic r:id="rId16"/>
      <p:boldItalic r:id="rId17"/>
    </p:embeddedFont>
    <p:embeddedFont>
      <p:font typeface="Times New Roman MT Bold" charset="0"/>
      <p:regular r:id="rId18"/>
    </p:embeddedFont>
    <p:embeddedFont>
      <p:font typeface="Roboto Bold" charset="0"/>
      <p:regular r:id="rId19"/>
    </p:embeddedFont>
    <p:embeddedFont>
      <p:font typeface="Palatino Linotype" pitchFamily="18" charset="0"/>
      <p:regular r:id="rId20"/>
      <p:bold r:id="rId21"/>
      <p:italic r:id="rId22"/>
      <p:boldItalic r:id="rId23"/>
    </p:embeddedFont>
    <p:embeddedFont>
      <p:font typeface="Georgia" pitchFamily="18" charset="0"/>
      <p:regular r:id="rId24"/>
      <p:bold r:id="rId25"/>
      <p:italic r:id="rId26"/>
      <p:boldItalic r:id="rId27"/>
    </p:embeddedFont>
    <p:embeddedFont>
      <p:font typeface="Perpetua Titling MT" pitchFamily="18" charset="0"/>
      <p:regular r:id="rId28"/>
      <p:bold r:id="rId29"/>
    </p:embeddedFont>
    <p:embeddedFont>
      <p:font typeface="Arial Black" pitchFamily="34" charset="0"/>
      <p:bold r:id="rId30"/>
    </p:embeddedFont>
    <p:embeddedFont>
      <p:font typeface="Roboto"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585" autoAdjust="0"/>
  </p:normalViewPr>
  <p:slideViewPr>
    <p:cSldViewPr>
      <p:cViewPr>
        <p:scale>
          <a:sx n="40" d="100"/>
          <a:sy n="40" d="100"/>
        </p:scale>
        <p:origin x="-1116" y="-2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jpeg"/><Relationship Id="rId11" Type="http://schemas.openxmlformats.org/officeDocument/2006/relationships/image" Target="../media/image10.pn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4457"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152541" y="8765026"/>
            <a:ext cx="19464737" cy="3086100"/>
            <a:chOff x="0" y="0"/>
            <a:chExt cx="5126515" cy="812800"/>
          </a:xfrm>
        </p:grpSpPr>
        <p:sp>
          <p:nvSpPr>
            <p:cNvPr id="4" name="Freeform 4"/>
            <p:cNvSpPr/>
            <p:nvPr/>
          </p:nvSpPr>
          <p:spPr>
            <a:xfrm>
              <a:off x="0" y="0"/>
              <a:ext cx="5126515" cy="812800"/>
            </a:xfrm>
            <a:custGeom>
              <a:avLst/>
              <a:gdLst/>
              <a:ahLst/>
              <a:cxnLst/>
              <a:rect l="l" t="t" r="r" b="b"/>
              <a:pathLst>
                <a:path w="5126515" h="812800">
                  <a:moveTo>
                    <a:pt x="0" y="0"/>
                  </a:moveTo>
                  <a:lnTo>
                    <a:pt x="5126515" y="0"/>
                  </a:lnTo>
                  <a:lnTo>
                    <a:pt x="5126515" y="812800"/>
                  </a:lnTo>
                  <a:lnTo>
                    <a:pt x="0" y="812800"/>
                  </a:lnTo>
                  <a:close/>
                </a:path>
              </a:pathLst>
            </a:custGeom>
            <a:solidFill>
              <a:srgbClr val="5AAD59"/>
            </a:solidFill>
          </p:spPr>
        </p:sp>
        <p:sp>
          <p:nvSpPr>
            <p:cNvPr id="5" name="TextBox 5"/>
            <p:cNvSpPr txBox="1"/>
            <p:nvPr/>
          </p:nvSpPr>
          <p:spPr>
            <a:xfrm>
              <a:off x="0" y="-38100"/>
              <a:ext cx="5126515" cy="8509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710668" y="6011466"/>
            <a:ext cx="7421336" cy="6493669"/>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8" name="TextBox 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024196" y="5738089"/>
            <a:ext cx="2052896" cy="1796284"/>
            <a:chOff x="0" y="0"/>
            <a:chExt cx="812800" cy="711200"/>
          </a:xfrm>
        </p:grpSpPr>
        <p:sp>
          <p:nvSpPr>
            <p:cNvPr id="10" name="Freeform 1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11" name="TextBox 11"/>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rot="-10800000">
            <a:off x="14577332" y="-2218134"/>
            <a:ext cx="7421336" cy="6493669"/>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14" name="TextBox 14"/>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17259300" y="2931737"/>
            <a:ext cx="2052896" cy="1796284"/>
            <a:chOff x="0" y="0"/>
            <a:chExt cx="812800" cy="711200"/>
          </a:xfrm>
        </p:grpSpPr>
        <p:sp>
          <p:nvSpPr>
            <p:cNvPr id="16" name="Freeform 1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17" name="TextBox 17"/>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rot="-10800000">
            <a:off x="17259300" y="4728021"/>
            <a:ext cx="2052896" cy="1796284"/>
            <a:chOff x="0" y="0"/>
            <a:chExt cx="812800" cy="711200"/>
          </a:xfrm>
        </p:grpSpPr>
        <p:sp>
          <p:nvSpPr>
            <p:cNvPr id="19" name="Freeform 1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20" name="TextBox 20"/>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024196" y="3941805"/>
            <a:ext cx="2052896" cy="1796284"/>
            <a:chOff x="0" y="0"/>
            <a:chExt cx="812800" cy="711200"/>
          </a:xfrm>
        </p:grpSpPr>
        <p:sp>
          <p:nvSpPr>
            <p:cNvPr id="22" name="Freeform 22"/>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23" name="TextBox 23"/>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sp>
        <p:nvSpPr>
          <p:cNvPr id="24" name="Freeform 24"/>
          <p:cNvSpPr/>
          <p:nvPr/>
        </p:nvSpPr>
        <p:spPr>
          <a:xfrm>
            <a:off x="14577332" y="590225"/>
            <a:ext cx="2212466" cy="1884312"/>
          </a:xfrm>
          <a:custGeom>
            <a:avLst/>
            <a:gdLst/>
            <a:ahLst/>
            <a:cxnLst/>
            <a:rect l="l" t="t" r="r" b="b"/>
            <a:pathLst>
              <a:path w="2212466" h="1884312">
                <a:moveTo>
                  <a:pt x="0" y="0"/>
                </a:moveTo>
                <a:lnTo>
                  <a:pt x="2212466" y="0"/>
                </a:lnTo>
                <a:lnTo>
                  <a:pt x="2212466" y="1884312"/>
                </a:lnTo>
                <a:lnTo>
                  <a:pt x="0" y="1884312"/>
                </a:lnTo>
                <a:lnTo>
                  <a:pt x="0" y="0"/>
                </a:lnTo>
                <a:close/>
              </a:path>
            </a:pathLst>
          </a:custGeom>
          <a:blipFill>
            <a:blip r:embed="rId3"/>
            <a:stretch>
              <a:fillRect l="-9405" t="-13167" r="-9405" b="-26334"/>
            </a:stretch>
          </a:blipFill>
        </p:spPr>
      </p:sp>
      <p:sp>
        <p:nvSpPr>
          <p:cNvPr id="25" name="Freeform 25"/>
          <p:cNvSpPr/>
          <p:nvPr/>
        </p:nvSpPr>
        <p:spPr>
          <a:xfrm>
            <a:off x="1526400" y="568383"/>
            <a:ext cx="1791127" cy="1906154"/>
          </a:xfrm>
          <a:custGeom>
            <a:avLst/>
            <a:gdLst/>
            <a:ahLst/>
            <a:cxnLst/>
            <a:rect l="l" t="t" r="r" b="b"/>
            <a:pathLst>
              <a:path w="1791127" h="1906154">
                <a:moveTo>
                  <a:pt x="0" y="0"/>
                </a:moveTo>
                <a:lnTo>
                  <a:pt x="1791127" y="0"/>
                </a:lnTo>
                <a:lnTo>
                  <a:pt x="1791127" y="1906154"/>
                </a:lnTo>
                <a:lnTo>
                  <a:pt x="0" y="1906154"/>
                </a:lnTo>
                <a:lnTo>
                  <a:pt x="0" y="0"/>
                </a:lnTo>
                <a:close/>
              </a:path>
            </a:pathLst>
          </a:custGeom>
          <a:blipFill>
            <a:blip r:embed="rId4"/>
            <a:stretch>
              <a:fillRect/>
            </a:stretch>
          </a:blipFill>
        </p:spPr>
      </p:sp>
      <p:grpSp>
        <p:nvGrpSpPr>
          <p:cNvPr id="26" name="Group 26"/>
          <p:cNvGrpSpPr/>
          <p:nvPr/>
        </p:nvGrpSpPr>
        <p:grpSpPr>
          <a:xfrm>
            <a:off x="2821207" y="9088876"/>
            <a:ext cx="14292714" cy="1079209"/>
            <a:chOff x="0" y="0"/>
            <a:chExt cx="19056952" cy="1438945"/>
          </a:xfrm>
        </p:grpSpPr>
        <p:sp>
          <p:nvSpPr>
            <p:cNvPr id="27" name="Freeform 27"/>
            <p:cNvSpPr/>
            <p:nvPr/>
          </p:nvSpPr>
          <p:spPr>
            <a:xfrm>
              <a:off x="3572077" y="245072"/>
              <a:ext cx="4548558" cy="948801"/>
            </a:xfrm>
            <a:custGeom>
              <a:avLst/>
              <a:gdLst/>
              <a:ahLst/>
              <a:cxnLst/>
              <a:rect l="l" t="t" r="r" b="b"/>
              <a:pathLst>
                <a:path w="4548558" h="948801">
                  <a:moveTo>
                    <a:pt x="0" y="0"/>
                  </a:moveTo>
                  <a:lnTo>
                    <a:pt x="4548558" y="0"/>
                  </a:lnTo>
                  <a:lnTo>
                    <a:pt x="4548558" y="948801"/>
                  </a:lnTo>
                  <a:lnTo>
                    <a:pt x="0" y="948801"/>
                  </a:lnTo>
                  <a:lnTo>
                    <a:pt x="0" y="0"/>
                  </a:lnTo>
                  <a:close/>
                </a:path>
              </a:pathLst>
            </a:custGeom>
            <a:blipFill>
              <a:blip r:embed="rId5"/>
              <a:stretch>
                <a:fillRect l="-4043" t="-9424" b="-49762"/>
              </a:stretch>
            </a:blipFill>
          </p:spPr>
        </p:sp>
        <p:sp>
          <p:nvSpPr>
            <p:cNvPr id="28" name="Freeform 28"/>
            <p:cNvSpPr/>
            <p:nvPr/>
          </p:nvSpPr>
          <p:spPr>
            <a:xfrm>
              <a:off x="10195495" y="169467"/>
              <a:ext cx="3375297" cy="1100011"/>
            </a:xfrm>
            <a:custGeom>
              <a:avLst/>
              <a:gdLst/>
              <a:ahLst/>
              <a:cxnLst/>
              <a:rect l="l" t="t" r="r" b="b"/>
              <a:pathLst>
                <a:path w="3375297" h="1100011">
                  <a:moveTo>
                    <a:pt x="0" y="0"/>
                  </a:moveTo>
                  <a:lnTo>
                    <a:pt x="3375297" y="0"/>
                  </a:lnTo>
                  <a:lnTo>
                    <a:pt x="3375297" y="1100011"/>
                  </a:lnTo>
                  <a:lnTo>
                    <a:pt x="0" y="1100011"/>
                  </a:lnTo>
                  <a:lnTo>
                    <a:pt x="0" y="0"/>
                  </a:lnTo>
                  <a:close/>
                </a:path>
              </a:pathLst>
            </a:custGeom>
            <a:blipFill>
              <a:blip r:embed="rId6"/>
              <a:stretch>
                <a:fillRect t="-105196" b="-101645"/>
              </a:stretch>
            </a:blipFill>
          </p:spPr>
        </p:sp>
        <p:grpSp>
          <p:nvGrpSpPr>
            <p:cNvPr id="29" name="Group 29"/>
            <p:cNvGrpSpPr/>
            <p:nvPr/>
          </p:nvGrpSpPr>
          <p:grpSpPr>
            <a:xfrm>
              <a:off x="0" y="0"/>
              <a:ext cx="1438945" cy="1438945"/>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13947" t="-60602" r="-18119" b="-63715"/>
                </a:stretch>
              </a:blipFill>
            </p:spPr>
          </p:sp>
        </p:grpSp>
        <p:grpSp>
          <p:nvGrpSpPr>
            <p:cNvPr id="31" name="Group 31"/>
            <p:cNvGrpSpPr/>
            <p:nvPr/>
          </p:nvGrpSpPr>
          <p:grpSpPr>
            <a:xfrm>
              <a:off x="1786039" y="0"/>
              <a:ext cx="1438945" cy="1438945"/>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31556" t="-16823" r="-31036" b="-11630"/>
                </a:stretch>
              </a:blipFill>
            </p:spPr>
          </p:sp>
        </p:grpSp>
        <p:grpSp>
          <p:nvGrpSpPr>
            <p:cNvPr id="33" name="Group 33"/>
            <p:cNvGrpSpPr/>
            <p:nvPr/>
          </p:nvGrpSpPr>
          <p:grpSpPr>
            <a:xfrm>
              <a:off x="13917885" y="0"/>
              <a:ext cx="1438945" cy="1438945"/>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3125" r="-3125"/>
                </a:stretch>
              </a:blipFill>
            </p:spPr>
          </p:sp>
        </p:grpSp>
        <p:grpSp>
          <p:nvGrpSpPr>
            <p:cNvPr id="35" name="Group 35"/>
            <p:cNvGrpSpPr/>
            <p:nvPr/>
          </p:nvGrpSpPr>
          <p:grpSpPr>
            <a:xfrm>
              <a:off x="15703924" y="0"/>
              <a:ext cx="1438945" cy="1438945"/>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6973" t="-53188" r="-12902" b="-50423"/>
                </a:stretch>
              </a:blipFill>
            </p:spPr>
          </p:sp>
        </p:grpSp>
        <p:sp>
          <p:nvSpPr>
            <p:cNvPr id="37" name="Freeform 37"/>
            <p:cNvSpPr/>
            <p:nvPr/>
          </p:nvSpPr>
          <p:spPr>
            <a:xfrm>
              <a:off x="8467728" y="29136"/>
              <a:ext cx="1380673" cy="1380673"/>
            </a:xfrm>
            <a:custGeom>
              <a:avLst/>
              <a:gdLst/>
              <a:ahLst/>
              <a:cxnLst/>
              <a:rect l="l" t="t" r="r" b="b"/>
              <a:pathLst>
                <a:path w="1380673" h="1380673">
                  <a:moveTo>
                    <a:pt x="0" y="0"/>
                  </a:moveTo>
                  <a:lnTo>
                    <a:pt x="1380673" y="0"/>
                  </a:lnTo>
                  <a:lnTo>
                    <a:pt x="1380673" y="1380673"/>
                  </a:lnTo>
                  <a:lnTo>
                    <a:pt x="0" y="1380673"/>
                  </a:lnTo>
                  <a:lnTo>
                    <a:pt x="0" y="0"/>
                  </a:lnTo>
                  <a:close/>
                </a:path>
              </a:pathLst>
            </a:custGeom>
            <a:blipFill>
              <a:blip r:embed="rId11"/>
              <a:stretch>
                <a:fillRect/>
              </a:stretch>
            </a:blipFill>
          </p:spPr>
        </p:sp>
        <p:sp>
          <p:nvSpPr>
            <p:cNvPr id="38" name="Freeform 38"/>
            <p:cNvSpPr/>
            <p:nvPr/>
          </p:nvSpPr>
          <p:spPr>
            <a:xfrm>
              <a:off x="17489963" y="15580"/>
              <a:ext cx="1566989" cy="1407785"/>
            </a:xfrm>
            <a:custGeom>
              <a:avLst/>
              <a:gdLst/>
              <a:ahLst/>
              <a:cxnLst/>
              <a:rect l="l" t="t" r="r" b="b"/>
              <a:pathLst>
                <a:path w="1566989" h="1407785">
                  <a:moveTo>
                    <a:pt x="0" y="0"/>
                  </a:moveTo>
                  <a:lnTo>
                    <a:pt x="1566989" y="0"/>
                  </a:lnTo>
                  <a:lnTo>
                    <a:pt x="1566989" y="1407785"/>
                  </a:lnTo>
                  <a:lnTo>
                    <a:pt x="0" y="1407785"/>
                  </a:lnTo>
                  <a:lnTo>
                    <a:pt x="0" y="0"/>
                  </a:lnTo>
                  <a:close/>
                </a:path>
              </a:pathLst>
            </a:custGeom>
            <a:blipFill>
              <a:blip r:embed="rId12"/>
              <a:stretch>
                <a:fillRect l="-4656" t="-35135" r="-1342" b="-32319"/>
              </a:stretch>
            </a:blipFill>
          </p:spPr>
        </p:sp>
      </p:grpSp>
      <p:sp>
        <p:nvSpPr>
          <p:cNvPr id="39" name="TextBox 39"/>
          <p:cNvSpPr txBox="1"/>
          <p:nvPr/>
        </p:nvSpPr>
        <p:spPr>
          <a:xfrm>
            <a:off x="3518016" y="1397319"/>
            <a:ext cx="11024514" cy="2063322"/>
          </a:xfrm>
          <a:prstGeom prst="rect">
            <a:avLst/>
          </a:prstGeom>
        </p:spPr>
        <p:txBody>
          <a:bodyPr wrap="square" lIns="0" tIns="0" rIns="0" bIns="0" rtlCol="0" anchor="t">
            <a:spAutoFit/>
          </a:bodyPr>
          <a:lstStyle/>
          <a:p>
            <a:pPr algn="ctr">
              <a:lnSpc>
                <a:spcPts val="8400"/>
              </a:lnSpc>
            </a:pPr>
            <a:r>
              <a:rPr lang="en-US" sz="6000" b="1" dirty="0" smtClean="0">
                <a:solidFill>
                  <a:srgbClr val="545454"/>
                </a:solidFill>
                <a:latin typeface="Georgia" pitchFamily="18" charset="0"/>
                <a:ea typeface="Hussar Bold"/>
                <a:cs typeface="Hussar Bold"/>
                <a:sym typeface="Hussar Bold"/>
              </a:rPr>
              <a:t>AUTONOMOUS SCHEME NAVIGATOR</a:t>
            </a:r>
            <a:endParaRPr lang="en-US" sz="6000" b="1" dirty="0">
              <a:solidFill>
                <a:srgbClr val="545454"/>
              </a:solidFill>
              <a:latin typeface="Georgia" pitchFamily="18" charset="0"/>
              <a:ea typeface="Hussar Bold"/>
              <a:cs typeface="Hussar Bold"/>
              <a:sym typeface="Hussar Bold"/>
            </a:endParaRPr>
          </a:p>
        </p:txBody>
      </p:sp>
      <p:sp>
        <p:nvSpPr>
          <p:cNvPr id="40" name="TextBox 40"/>
          <p:cNvSpPr txBox="1"/>
          <p:nvPr/>
        </p:nvSpPr>
        <p:spPr>
          <a:xfrm>
            <a:off x="2067845" y="6394919"/>
            <a:ext cx="14799346" cy="2286139"/>
          </a:xfrm>
          <a:prstGeom prst="rect">
            <a:avLst/>
          </a:prstGeom>
        </p:spPr>
        <p:txBody>
          <a:bodyPr wrap="square" lIns="0" tIns="0" rIns="0" bIns="0" rtlCol="0" anchor="t">
            <a:spAutoFit/>
          </a:bodyPr>
          <a:lstStyle/>
          <a:p>
            <a:pPr marL="875783" lvl="1" indent="-437891">
              <a:buFont typeface="Arial"/>
              <a:buChar char="•"/>
            </a:pPr>
            <a:r>
              <a:rPr lang="en-US" sz="4056" b="1" spc="60" dirty="0">
                <a:solidFill>
                  <a:srgbClr val="272727"/>
                </a:solidFill>
                <a:latin typeface="Times New Roman MT Bold"/>
                <a:ea typeface="Times New Roman MT Bold"/>
                <a:cs typeface="Times New Roman MT Bold"/>
                <a:sym typeface="Times New Roman MT Bold"/>
              </a:rPr>
              <a:t>Team </a:t>
            </a:r>
            <a:r>
              <a:rPr lang="en-US" sz="4056" b="1" spc="60" dirty="0" smtClean="0">
                <a:solidFill>
                  <a:srgbClr val="272727"/>
                </a:solidFill>
                <a:latin typeface="Times New Roman MT Bold"/>
                <a:ea typeface="Times New Roman MT Bold"/>
                <a:cs typeface="Times New Roman MT Bold"/>
                <a:sym typeface="Times New Roman MT Bold"/>
              </a:rPr>
              <a:t>Members :</a:t>
            </a:r>
            <a:r>
              <a:rPr lang="en-US" sz="3600" spc="60" dirty="0" smtClean="0">
                <a:solidFill>
                  <a:srgbClr val="272727"/>
                </a:solidFill>
                <a:latin typeface="Times New Roman MT Bold"/>
                <a:ea typeface="Times New Roman MT Bold"/>
                <a:cs typeface="Times New Roman MT Bold"/>
                <a:sym typeface="Times New Roman MT Bold"/>
              </a:rPr>
              <a:t>1.R.Mathavi</a:t>
            </a:r>
            <a:endParaRPr lang="en-US" sz="3600" spc="60" dirty="0" smtClean="0">
              <a:solidFill>
                <a:srgbClr val="272727"/>
              </a:solidFill>
              <a:latin typeface="Times New Roman MT Bold"/>
              <a:ea typeface="Times New Roman MT Bold"/>
              <a:cs typeface="Times New Roman MT Bold"/>
              <a:sym typeface="Times New Roman MT Bold"/>
            </a:endParaRPr>
          </a:p>
          <a:p>
            <a:pPr marL="437892" lvl="1"/>
            <a:r>
              <a:rPr lang="en-US" sz="3600" spc="60" dirty="0" smtClean="0">
                <a:solidFill>
                  <a:srgbClr val="272727"/>
                </a:solidFill>
                <a:latin typeface="Times New Roman MT Bold"/>
                <a:ea typeface="Times New Roman MT Bold"/>
                <a:cs typeface="Times New Roman MT Bold"/>
                <a:sym typeface="Times New Roman MT Bold"/>
              </a:rPr>
              <a:t>                                  2.E.Jerin Augusta</a:t>
            </a:r>
          </a:p>
          <a:p>
            <a:pPr marL="437892" lvl="1"/>
            <a:r>
              <a:rPr lang="en-US" sz="3600" spc="60" dirty="0">
                <a:solidFill>
                  <a:srgbClr val="272727"/>
                </a:solidFill>
                <a:latin typeface="Times New Roman MT Bold"/>
                <a:ea typeface="Times New Roman MT Bold"/>
                <a:cs typeface="Times New Roman MT Bold"/>
                <a:sym typeface="Times New Roman MT Bold"/>
              </a:rPr>
              <a:t> </a:t>
            </a:r>
            <a:r>
              <a:rPr lang="en-US" sz="3600" spc="60" dirty="0" smtClean="0">
                <a:solidFill>
                  <a:srgbClr val="272727"/>
                </a:solidFill>
                <a:latin typeface="Times New Roman MT Bold"/>
                <a:ea typeface="Times New Roman MT Bold"/>
                <a:cs typeface="Times New Roman MT Bold"/>
                <a:sym typeface="Times New Roman MT Bold"/>
              </a:rPr>
              <a:t>                                 3.S.Kaviya</a:t>
            </a:r>
          </a:p>
          <a:p>
            <a:pPr marL="437892" lvl="1"/>
            <a:r>
              <a:rPr lang="en-US" sz="3600" spc="60" dirty="0" smtClean="0">
                <a:solidFill>
                  <a:srgbClr val="272727"/>
                </a:solidFill>
                <a:latin typeface="Times New Roman MT Bold"/>
                <a:ea typeface="Times New Roman MT Bold"/>
                <a:cs typeface="Times New Roman MT Bold"/>
                <a:sym typeface="Times New Roman MT Bold"/>
              </a:rPr>
              <a:t>                                  4.P.Jeevitha</a:t>
            </a:r>
            <a:endParaRPr lang="en-US" sz="3600" spc="60" dirty="0" smtClean="0">
              <a:solidFill>
                <a:srgbClr val="272727"/>
              </a:solidFill>
              <a:latin typeface="Times New Roman MT Bold"/>
              <a:ea typeface="Times New Roman MT Bold"/>
              <a:cs typeface="Times New Roman MT Bold"/>
              <a:sym typeface="Times New Roman MT Bold"/>
            </a:endParaRPr>
          </a:p>
        </p:txBody>
      </p:sp>
      <p:sp>
        <p:nvSpPr>
          <p:cNvPr id="41" name="TextBox 41"/>
          <p:cNvSpPr txBox="1"/>
          <p:nvPr/>
        </p:nvSpPr>
        <p:spPr>
          <a:xfrm>
            <a:off x="1907492" y="4931013"/>
            <a:ext cx="13923998" cy="1461939"/>
          </a:xfrm>
          <a:prstGeom prst="rect">
            <a:avLst/>
          </a:prstGeom>
        </p:spPr>
        <p:txBody>
          <a:bodyPr wrap="square" lIns="0" tIns="0" rIns="0" bIns="0" rtlCol="0" anchor="t">
            <a:spAutoFit/>
          </a:bodyPr>
          <a:lstStyle/>
          <a:p>
            <a:pPr marL="875783" lvl="1" indent="-437891">
              <a:lnSpc>
                <a:spcPts val="5678"/>
              </a:lnSpc>
              <a:buFont typeface="Arial"/>
              <a:buChar char="•"/>
            </a:pPr>
            <a:r>
              <a:rPr lang="en-US" sz="4056" b="1" spc="60" dirty="0">
                <a:solidFill>
                  <a:srgbClr val="272727"/>
                </a:solidFill>
                <a:latin typeface="Times New Roman MT Bold"/>
                <a:ea typeface="Times New Roman MT Bold"/>
                <a:cs typeface="Times New Roman MT Bold"/>
                <a:sym typeface="Times New Roman MT Bold"/>
              </a:rPr>
              <a:t>Theme : </a:t>
            </a:r>
            <a:r>
              <a:rPr lang="en-US" sz="4056" b="1" spc="60" dirty="0" err="1">
                <a:solidFill>
                  <a:srgbClr val="272727"/>
                </a:solidFill>
                <a:latin typeface="Times New Roman MT Bold"/>
                <a:ea typeface="Times New Roman MT Bold"/>
                <a:cs typeface="Times New Roman MT Bold"/>
                <a:sym typeface="Times New Roman MT Bold"/>
              </a:rPr>
              <a:t>Agentic</a:t>
            </a:r>
            <a:r>
              <a:rPr lang="en-US" sz="4056" b="1" spc="60" dirty="0">
                <a:solidFill>
                  <a:srgbClr val="272727"/>
                </a:solidFill>
                <a:latin typeface="Times New Roman MT Bold"/>
                <a:ea typeface="Times New Roman MT Bold"/>
                <a:cs typeface="Times New Roman MT Bold"/>
                <a:sym typeface="Times New Roman MT Bold"/>
              </a:rPr>
              <a:t> AI</a:t>
            </a:r>
          </a:p>
          <a:p>
            <a:pPr marL="875783" lvl="1" indent="-437891" algn="l">
              <a:lnSpc>
                <a:spcPts val="5678"/>
              </a:lnSpc>
              <a:buFont typeface="Arial"/>
              <a:buChar char="•"/>
            </a:pPr>
            <a:endParaRPr lang="en-US" sz="4056" b="1" spc="60" dirty="0">
              <a:solidFill>
                <a:srgbClr val="272727"/>
              </a:solidFill>
              <a:latin typeface="Times New Roman MT Bold"/>
              <a:ea typeface="Times New Roman MT Bold"/>
              <a:cs typeface="Times New Roman MT Bold"/>
              <a:sym typeface="Times New Roman MT Bold"/>
            </a:endParaRPr>
          </a:p>
        </p:txBody>
      </p:sp>
      <p:sp>
        <p:nvSpPr>
          <p:cNvPr id="42" name="TextBox 42"/>
          <p:cNvSpPr txBox="1"/>
          <p:nvPr/>
        </p:nvSpPr>
        <p:spPr>
          <a:xfrm>
            <a:off x="1990451" y="3489967"/>
            <a:ext cx="13923999" cy="695447"/>
          </a:xfrm>
          <a:prstGeom prst="rect">
            <a:avLst/>
          </a:prstGeom>
        </p:spPr>
        <p:txBody>
          <a:bodyPr wrap="square" lIns="0" tIns="0" rIns="0" bIns="0" rtlCol="0" anchor="t">
            <a:spAutoFit/>
          </a:bodyPr>
          <a:lstStyle/>
          <a:p>
            <a:pPr marL="875783" lvl="1" indent="-437891" algn="l">
              <a:lnSpc>
                <a:spcPts val="5678"/>
              </a:lnSpc>
              <a:buFont typeface="Arial"/>
              <a:buChar char="•"/>
            </a:pPr>
            <a:r>
              <a:rPr lang="en-US" sz="4056" b="1" spc="60" dirty="0">
                <a:solidFill>
                  <a:srgbClr val="272727"/>
                </a:solidFill>
                <a:latin typeface="Times New Roman MT Bold"/>
                <a:ea typeface="Times New Roman MT Bold"/>
                <a:cs typeface="Times New Roman MT Bold"/>
                <a:sym typeface="Times New Roman MT Bold"/>
              </a:rPr>
              <a:t>PS </a:t>
            </a:r>
            <a:r>
              <a:rPr lang="en-US" sz="4056" b="1" spc="60" dirty="0" smtClean="0">
                <a:solidFill>
                  <a:srgbClr val="272727"/>
                </a:solidFill>
                <a:latin typeface="Times New Roman MT Bold"/>
                <a:ea typeface="Times New Roman MT Bold"/>
                <a:cs typeface="Times New Roman MT Bold"/>
                <a:sym typeface="Times New Roman MT Bold"/>
              </a:rPr>
              <a:t>ID : VH26-AI-01</a:t>
            </a:r>
            <a:endParaRPr lang="en-US" sz="4056" b="1" spc="60" dirty="0">
              <a:solidFill>
                <a:srgbClr val="272727"/>
              </a:solidFill>
              <a:latin typeface="Times New Roman MT Bold"/>
              <a:ea typeface="Times New Roman MT Bold"/>
              <a:cs typeface="Times New Roman MT Bold"/>
              <a:sym typeface="Times New Roman MT Bold"/>
            </a:endParaRPr>
          </a:p>
        </p:txBody>
      </p:sp>
      <p:sp>
        <p:nvSpPr>
          <p:cNvPr id="43" name="TextBox 43"/>
          <p:cNvSpPr txBox="1"/>
          <p:nvPr/>
        </p:nvSpPr>
        <p:spPr>
          <a:xfrm>
            <a:off x="1990452" y="4275535"/>
            <a:ext cx="14079642" cy="730969"/>
          </a:xfrm>
          <a:prstGeom prst="rect">
            <a:avLst/>
          </a:prstGeom>
        </p:spPr>
        <p:txBody>
          <a:bodyPr wrap="square" lIns="0" tIns="0" rIns="0" bIns="0" rtlCol="0" anchor="t">
            <a:spAutoFit/>
          </a:bodyPr>
          <a:lstStyle/>
          <a:p>
            <a:pPr marL="875783" lvl="1" indent="-437891" algn="l">
              <a:lnSpc>
                <a:spcPts val="5678"/>
              </a:lnSpc>
              <a:buFont typeface="Arial"/>
              <a:buChar char="•"/>
            </a:pPr>
            <a:r>
              <a:rPr lang="en-US" sz="4056" b="1" spc="60" dirty="0">
                <a:solidFill>
                  <a:srgbClr val="272727"/>
                </a:solidFill>
                <a:latin typeface="Times New Roman MT Bold"/>
                <a:ea typeface="Times New Roman MT Bold"/>
                <a:cs typeface="Times New Roman MT Bold"/>
                <a:sym typeface="Times New Roman MT Bold"/>
              </a:rPr>
              <a:t>PS </a:t>
            </a:r>
            <a:r>
              <a:rPr lang="en-US" sz="4056" b="1" spc="60" dirty="0" smtClean="0">
                <a:solidFill>
                  <a:srgbClr val="272727"/>
                </a:solidFill>
                <a:latin typeface="Times New Roman MT Bold"/>
                <a:ea typeface="Times New Roman MT Bold"/>
                <a:cs typeface="Times New Roman MT Bold"/>
                <a:sym typeface="Times New Roman MT Bold"/>
              </a:rPr>
              <a:t>Title : Autonomous Scheme Navigator</a:t>
            </a:r>
            <a:endParaRPr lang="en-US" sz="4056" b="1" spc="60" dirty="0">
              <a:solidFill>
                <a:srgbClr val="272727"/>
              </a:solidFill>
              <a:latin typeface="Times New Roman MT Bold"/>
              <a:ea typeface="Times New Roman MT Bold"/>
              <a:cs typeface="Times New Roman MT Bold"/>
              <a:sym typeface="Times New Roman MT Bold"/>
            </a:endParaRPr>
          </a:p>
        </p:txBody>
      </p:sp>
      <p:sp>
        <p:nvSpPr>
          <p:cNvPr id="44" name="TextBox 44"/>
          <p:cNvSpPr txBox="1"/>
          <p:nvPr/>
        </p:nvSpPr>
        <p:spPr>
          <a:xfrm>
            <a:off x="1990452" y="5626163"/>
            <a:ext cx="13977038" cy="695447"/>
          </a:xfrm>
          <a:prstGeom prst="rect">
            <a:avLst/>
          </a:prstGeom>
        </p:spPr>
        <p:txBody>
          <a:bodyPr wrap="square" lIns="0" tIns="0" rIns="0" bIns="0" rtlCol="0" anchor="t">
            <a:spAutoFit/>
          </a:bodyPr>
          <a:lstStyle/>
          <a:p>
            <a:pPr marL="875783" lvl="1" indent="-437891" algn="l">
              <a:lnSpc>
                <a:spcPts val="5678"/>
              </a:lnSpc>
              <a:buFont typeface="Arial"/>
              <a:buChar char="•"/>
            </a:pPr>
            <a:r>
              <a:rPr lang="en-US" sz="4056" b="1" spc="60" dirty="0">
                <a:solidFill>
                  <a:srgbClr val="272727"/>
                </a:solidFill>
                <a:latin typeface="Times New Roman MT Bold"/>
                <a:ea typeface="Times New Roman MT Bold"/>
                <a:cs typeface="Times New Roman MT Bold"/>
                <a:sym typeface="Times New Roman MT Bold"/>
              </a:rPr>
              <a:t>Team </a:t>
            </a:r>
            <a:r>
              <a:rPr lang="en-US" sz="4056" b="1" spc="60" dirty="0" smtClean="0">
                <a:solidFill>
                  <a:srgbClr val="272727"/>
                </a:solidFill>
                <a:latin typeface="Times New Roman MT Bold"/>
                <a:ea typeface="Times New Roman MT Bold"/>
                <a:cs typeface="Times New Roman MT Bold"/>
                <a:sym typeface="Times New Roman MT Bold"/>
              </a:rPr>
              <a:t>Name :Elite </a:t>
            </a:r>
            <a:r>
              <a:rPr lang="en-US" sz="4056" b="1" spc="60" dirty="0" err="1">
                <a:solidFill>
                  <a:srgbClr val="272727"/>
                </a:solidFill>
                <a:latin typeface="Times New Roman MT Bold"/>
                <a:ea typeface="Times New Roman MT Bold"/>
                <a:cs typeface="Times New Roman MT Bold"/>
                <a:sym typeface="Times New Roman MT Bold"/>
              </a:rPr>
              <a:t>E</a:t>
            </a:r>
            <a:r>
              <a:rPr lang="en-US" sz="4056" b="1" spc="60" dirty="0" err="1" smtClean="0">
                <a:solidFill>
                  <a:srgbClr val="272727"/>
                </a:solidFill>
                <a:latin typeface="Times New Roman MT Bold"/>
                <a:ea typeface="Times New Roman MT Bold"/>
                <a:cs typeface="Times New Roman MT Bold"/>
                <a:sym typeface="Times New Roman MT Bold"/>
              </a:rPr>
              <a:t>ngineerz</a:t>
            </a:r>
            <a:endParaRPr lang="en-US" sz="4056" b="1" spc="60" dirty="0">
              <a:solidFill>
                <a:srgbClr val="272727"/>
              </a:solidFill>
              <a:latin typeface="Times New Roman MT Bold"/>
              <a:ea typeface="Times New Roman MT Bold"/>
              <a:cs typeface="Times New Roman MT Bold"/>
              <a:sym typeface="Times New Roman MT Bold"/>
            </a:endParaRPr>
          </a:p>
        </p:txBody>
      </p:sp>
      <p:sp>
        <p:nvSpPr>
          <p:cNvPr id="45" name="TextBox 45"/>
          <p:cNvSpPr txBox="1"/>
          <p:nvPr/>
        </p:nvSpPr>
        <p:spPr>
          <a:xfrm>
            <a:off x="4160736" y="333029"/>
            <a:ext cx="9796582" cy="931665"/>
          </a:xfrm>
          <a:prstGeom prst="rect">
            <a:avLst/>
          </a:prstGeom>
        </p:spPr>
        <p:txBody>
          <a:bodyPr lIns="0" tIns="0" rIns="0" bIns="0" rtlCol="0" anchor="t">
            <a:spAutoFit/>
          </a:bodyPr>
          <a:lstStyle/>
          <a:p>
            <a:pPr algn="ctr">
              <a:lnSpc>
                <a:spcPts val="7750"/>
              </a:lnSpc>
            </a:pPr>
            <a:r>
              <a:rPr lang="en-US" sz="5000" b="1" i="1" spc="575" dirty="0">
                <a:solidFill>
                  <a:srgbClr val="1D3616"/>
                </a:solidFill>
                <a:latin typeface="Times New Roman MT Bold" charset="0"/>
                <a:ea typeface="Norwester"/>
                <a:cs typeface="Norwester"/>
                <a:sym typeface="Norwester"/>
              </a:rPr>
              <a:t>Visualize’26 24hr </a:t>
            </a:r>
            <a:r>
              <a:rPr lang="en-US" sz="5000" b="1" i="1" spc="575" dirty="0" err="1">
                <a:solidFill>
                  <a:srgbClr val="1D3616"/>
                </a:solidFill>
                <a:latin typeface="Times New Roman MT Bold" charset="0"/>
                <a:ea typeface="Norwester"/>
                <a:cs typeface="Norwester"/>
                <a:sym typeface="Norwester"/>
              </a:rPr>
              <a:t>Hackathon</a:t>
            </a:r>
            <a:endParaRPr lang="en-US" sz="5000" b="1" i="1" spc="575" dirty="0">
              <a:solidFill>
                <a:srgbClr val="1D3616"/>
              </a:solidFill>
              <a:latin typeface="Times New Roman MT Bold" charset="0"/>
              <a:ea typeface="Norwester"/>
              <a:cs typeface="Norwester"/>
              <a:sym typeface="Norweste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3710668" y="6011466"/>
            <a:ext cx="7421336" cy="6493669"/>
            <a:chOff x="0" y="0"/>
            <a:chExt cx="812800" cy="711200"/>
          </a:xfrm>
        </p:grpSpPr>
        <p:sp>
          <p:nvSpPr>
            <p:cNvPr id="4" name="Freeform 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5" name="TextBox 5"/>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5400000">
            <a:off x="2696678" y="9388858"/>
            <a:ext cx="2052896" cy="1796284"/>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8" name="TextBox 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5400000">
            <a:off x="900394" y="9388858"/>
            <a:ext cx="2052896" cy="1796284"/>
            <a:chOff x="0" y="0"/>
            <a:chExt cx="812800" cy="711200"/>
          </a:xfrm>
        </p:grpSpPr>
        <p:sp>
          <p:nvSpPr>
            <p:cNvPr id="10" name="Freeform 1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11" name="TextBox 11"/>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432650" y="525175"/>
            <a:ext cx="1042825" cy="1109795"/>
          </a:xfrm>
          <a:custGeom>
            <a:avLst/>
            <a:gdLst/>
            <a:ahLst/>
            <a:cxnLst/>
            <a:rect l="l" t="t" r="r" b="b"/>
            <a:pathLst>
              <a:path w="1042825" h="1109795">
                <a:moveTo>
                  <a:pt x="0" y="0"/>
                </a:moveTo>
                <a:lnTo>
                  <a:pt x="1042825" y="0"/>
                </a:lnTo>
                <a:lnTo>
                  <a:pt x="1042825" y="1109796"/>
                </a:lnTo>
                <a:lnTo>
                  <a:pt x="0" y="1109796"/>
                </a:lnTo>
                <a:lnTo>
                  <a:pt x="0" y="0"/>
                </a:lnTo>
                <a:close/>
              </a:path>
            </a:pathLst>
          </a:custGeom>
          <a:blipFill>
            <a:blip r:embed="rId3"/>
            <a:stretch>
              <a:fillRect/>
            </a:stretch>
          </a:blipFill>
        </p:spPr>
      </p:sp>
      <p:sp>
        <p:nvSpPr>
          <p:cNvPr id="13" name="Freeform 13"/>
          <p:cNvSpPr/>
          <p:nvPr/>
        </p:nvSpPr>
        <p:spPr>
          <a:xfrm>
            <a:off x="1622953" y="525175"/>
            <a:ext cx="1399814" cy="1192193"/>
          </a:xfrm>
          <a:custGeom>
            <a:avLst/>
            <a:gdLst/>
            <a:ahLst/>
            <a:cxnLst/>
            <a:rect l="l" t="t" r="r" b="b"/>
            <a:pathLst>
              <a:path w="1399814" h="1192193">
                <a:moveTo>
                  <a:pt x="0" y="0"/>
                </a:moveTo>
                <a:lnTo>
                  <a:pt x="1399815" y="0"/>
                </a:lnTo>
                <a:lnTo>
                  <a:pt x="1399815" y="1192193"/>
                </a:lnTo>
                <a:lnTo>
                  <a:pt x="0" y="1192193"/>
                </a:lnTo>
                <a:lnTo>
                  <a:pt x="0" y="0"/>
                </a:lnTo>
                <a:close/>
              </a:path>
            </a:pathLst>
          </a:custGeom>
          <a:blipFill>
            <a:blip r:embed="rId4"/>
            <a:stretch>
              <a:fillRect l="-9405" t="-13167" r="-9405" b="-26334"/>
            </a:stretch>
          </a:blipFill>
        </p:spPr>
      </p:sp>
      <p:sp>
        <p:nvSpPr>
          <p:cNvPr id="14" name="TextBox 14"/>
          <p:cNvSpPr txBox="1"/>
          <p:nvPr/>
        </p:nvSpPr>
        <p:spPr>
          <a:xfrm>
            <a:off x="7175534" y="853769"/>
            <a:ext cx="3936932" cy="821700"/>
          </a:xfrm>
          <a:prstGeom prst="rect">
            <a:avLst/>
          </a:prstGeom>
        </p:spPr>
        <p:txBody>
          <a:bodyPr lIns="0" tIns="0" rIns="0" bIns="0" rtlCol="0" anchor="t">
            <a:spAutoFit/>
          </a:bodyPr>
          <a:lstStyle/>
          <a:p>
            <a:pPr algn="ctr">
              <a:lnSpc>
                <a:spcPts val="7000"/>
              </a:lnSpc>
            </a:pPr>
            <a:r>
              <a:rPr lang="en-US" sz="5000" b="1" dirty="0">
                <a:solidFill>
                  <a:srgbClr val="545454"/>
                </a:solidFill>
                <a:latin typeface="Georgia" pitchFamily="18" charset="0"/>
                <a:ea typeface="Hussar Bold"/>
                <a:cs typeface="Frank Ruehl CLM" pitchFamily="50" charset="-79"/>
                <a:sym typeface="Hussar Bold"/>
              </a:rPr>
              <a:t>ABSTRACT</a:t>
            </a:r>
          </a:p>
        </p:txBody>
      </p:sp>
      <p:sp>
        <p:nvSpPr>
          <p:cNvPr id="15" name="TextBox 15"/>
          <p:cNvSpPr txBox="1"/>
          <p:nvPr/>
        </p:nvSpPr>
        <p:spPr>
          <a:xfrm>
            <a:off x="16405423" y="9070175"/>
            <a:ext cx="853877" cy="643964"/>
          </a:xfrm>
          <a:prstGeom prst="rect">
            <a:avLst/>
          </a:prstGeom>
        </p:spPr>
        <p:txBody>
          <a:bodyPr lIns="0" tIns="0" rIns="0" bIns="0" rtlCol="0" anchor="t">
            <a:spAutoFit/>
          </a:bodyPr>
          <a:lstStyle/>
          <a:p>
            <a:pPr algn="ctr">
              <a:lnSpc>
                <a:spcPts val="5312"/>
              </a:lnSpc>
            </a:pPr>
            <a:r>
              <a:rPr lang="en-US" sz="3794">
                <a:solidFill>
                  <a:srgbClr val="545454"/>
                </a:solidFill>
                <a:latin typeface="Hussar Bold"/>
                <a:ea typeface="Hussar Bold"/>
                <a:cs typeface="Hussar Bold"/>
                <a:sym typeface="Hussar Bold"/>
              </a:rPr>
              <a:t>01</a:t>
            </a:r>
          </a:p>
        </p:txBody>
      </p:sp>
      <p:sp>
        <p:nvSpPr>
          <p:cNvPr id="16" name="TextBox 16"/>
          <p:cNvSpPr txBox="1"/>
          <p:nvPr/>
        </p:nvSpPr>
        <p:spPr>
          <a:xfrm>
            <a:off x="2551085" y="2760755"/>
            <a:ext cx="13710478" cy="6309420"/>
          </a:xfrm>
          <a:prstGeom prst="rect">
            <a:avLst/>
          </a:prstGeom>
        </p:spPr>
        <p:txBody>
          <a:bodyPr lIns="0" tIns="0" rIns="0" bIns="0" rtlCol="0" anchor="t">
            <a:spAutoFit/>
          </a:bodyPr>
          <a:lstStyle/>
          <a:p>
            <a:pPr marL="770253" lvl="1" indent="-457200">
              <a:lnSpc>
                <a:spcPts val="4059"/>
              </a:lnSpc>
              <a:buFont typeface="Arial" pitchFamily="34" charset="0"/>
              <a:buChar char="•"/>
            </a:pPr>
            <a:r>
              <a:rPr lang="en-US" sz="2899" dirty="0" smtClean="0">
                <a:solidFill>
                  <a:srgbClr val="5B694E"/>
                </a:solidFill>
                <a:latin typeface="Roboto"/>
                <a:ea typeface="Roboto"/>
                <a:cs typeface="Roboto"/>
                <a:sym typeface="Roboto"/>
              </a:rPr>
              <a:t>The Autonomous </a:t>
            </a:r>
            <a:r>
              <a:rPr lang="en-US" sz="2899" dirty="0">
                <a:solidFill>
                  <a:srgbClr val="5B694E"/>
                </a:solidFill>
                <a:latin typeface="Roboto"/>
                <a:ea typeface="Roboto"/>
                <a:cs typeface="Roboto"/>
                <a:sym typeface="Roboto"/>
              </a:rPr>
              <a:t>Scheme Navigator Agent is an AI-based system that helps citizens </a:t>
            </a:r>
            <a:r>
              <a:rPr lang="en-US" sz="3200" dirty="0">
                <a:sym typeface="Roboto"/>
              </a:rPr>
              <a:t>easily</a:t>
            </a:r>
            <a:r>
              <a:rPr lang="en-US" sz="3200" dirty="0">
                <a:solidFill>
                  <a:srgbClr val="5B694E"/>
                </a:solidFill>
                <a:latin typeface="Roboto"/>
                <a:ea typeface="Roboto"/>
                <a:cs typeface="Roboto"/>
                <a:sym typeface="Roboto"/>
              </a:rPr>
              <a:t> </a:t>
            </a:r>
            <a:r>
              <a:rPr lang="en-US" sz="2899" dirty="0">
                <a:solidFill>
                  <a:srgbClr val="5B694E"/>
                </a:solidFill>
                <a:latin typeface="Roboto"/>
                <a:ea typeface="Roboto"/>
                <a:cs typeface="Roboto"/>
                <a:sym typeface="Roboto"/>
              </a:rPr>
              <a:t>find government welfare schemes they are eligible for</a:t>
            </a:r>
            <a:r>
              <a:rPr lang="en-US" sz="2899" dirty="0" smtClean="0">
                <a:solidFill>
                  <a:srgbClr val="5B694E"/>
                </a:solidFill>
                <a:latin typeface="Roboto"/>
                <a:ea typeface="Roboto"/>
                <a:cs typeface="Roboto"/>
                <a:sym typeface="Roboto"/>
              </a:rPr>
              <a:t>.</a:t>
            </a:r>
          </a:p>
          <a:p>
            <a:pPr marL="770253" lvl="1" indent="-457200">
              <a:lnSpc>
                <a:spcPts val="4059"/>
              </a:lnSpc>
              <a:buFont typeface="Arial" pitchFamily="34" charset="0"/>
              <a:buChar char="•"/>
            </a:pPr>
            <a:r>
              <a:rPr lang="en-US" sz="2899" dirty="0" smtClean="0">
                <a:solidFill>
                  <a:srgbClr val="5B694E"/>
                </a:solidFill>
                <a:latin typeface="Roboto"/>
                <a:ea typeface="Roboto"/>
                <a:cs typeface="Roboto"/>
                <a:sym typeface="Roboto"/>
              </a:rPr>
              <a:t> </a:t>
            </a:r>
            <a:r>
              <a:rPr lang="en-US" sz="2899" dirty="0">
                <a:solidFill>
                  <a:srgbClr val="5B694E"/>
                </a:solidFill>
                <a:latin typeface="Roboto"/>
                <a:ea typeface="Roboto"/>
                <a:cs typeface="Roboto"/>
                <a:sym typeface="Roboto"/>
              </a:rPr>
              <a:t>Many people are unaware of available schemes due to scattered information and complex eligibility criteria</a:t>
            </a:r>
            <a:r>
              <a:rPr lang="en-US" sz="2899" dirty="0" smtClean="0">
                <a:solidFill>
                  <a:srgbClr val="5B694E"/>
                </a:solidFill>
                <a:latin typeface="Roboto"/>
                <a:ea typeface="Roboto"/>
                <a:cs typeface="Roboto"/>
                <a:sym typeface="Roboto"/>
              </a:rPr>
              <a:t>.</a:t>
            </a:r>
          </a:p>
          <a:p>
            <a:pPr marL="770253" lvl="1" indent="-457200">
              <a:lnSpc>
                <a:spcPts val="4059"/>
              </a:lnSpc>
              <a:buFont typeface="Arial" pitchFamily="34" charset="0"/>
              <a:buChar char="•"/>
            </a:pPr>
            <a:r>
              <a:rPr lang="en-US" sz="2899" dirty="0" smtClean="0">
                <a:solidFill>
                  <a:srgbClr val="5B694E"/>
                </a:solidFill>
                <a:latin typeface="Roboto"/>
                <a:ea typeface="Roboto"/>
                <a:cs typeface="Roboto"/>
                <a:sym typeface="Roboto"/>
              </a:rPr>
              <a:t> </a:t>
            </a:r>
            <a:r>
              <a:rPr lang="en-US" sz="2899" dirty="0">
                <a:solidFill>
                  <a:srgbClr val="5B694E"/>
                </a:solidFill>
                <a:latin typeface="Roboto"/>
                <a:ea typeface="Roboto"/>
                <a:cs typeface="Roboto"/>
                <a:sym typeface="Roboto"/>
              </a:rPr>
              <a:t>The system collects user details such as age, income, education, and location, and analyzes them to match suitable government schemes. </a:t>
            </a:r>
            <a:endParaRPr lang="en-US" sz="2899" dirty="0" smtClean="0">
              <a:solidFill>
                <a:srgbClr val="5B694E"/>
              </a:solidFill>
              <a:latin typeface="Roboto"/>
              <a:ea typeface="Roboto"/>
              <a:cs typeface="Roboto"/>
              <a:sym typeface="Roboto"/>
            </a:endParaRPr>
          </a:p>
          <a:p>
            <a:pPr marL="770253" lvl="1" indent="-457200">
              <a:lnSpc>
                <a:spcPts val="4059"/>
              </a:lnSpc>
              <a:buFont typeface="Arial" pitchFamily="34" charset="0"/>
              <a:buChar char="•"/>
            </a:pPr>
            <a:r>
              <a:rPr lang="en-US" sz="2899" dirty="0" smtClean="0">
                <a:solidFill>
                  <a:srgbClr val="5B694E"/>
                </a:solidFill>
                <a:latin typeface="Roboto"/>
                <a:ea typeface="Roboto"/>
                <a:cs typeface="Roboto"/>
                <a:sym typeface="Roboto"/>
              </a:rPr>
              <a:t>It </a:t>
            </a:r>
            <a:r>
              <a:rPr lang="en-US" sz="2899" dirty="0">
                <a:solidFill>
                  <a:srgbClr val="5B694E"/>
                </a:solidFill>
                <a:latin typeface="Roboto"/>
                <a:ea typeface="Roboto"/>
                <a:cs typeface="Roboto"/>
                <a:sym typeface="Roboto"/>
              </a:rPr>
              <a:t>then provides personalized recommendations and step-by-step guidance for applying to those schemes. </a:t>
            </a:r>
            <a:endParaRPr lang="en-US" sz="2899" dirty="0" smtClean="0">
              <a:solidFill>
                <a:srgbClr val="5B694E"/>
              </a:solidFill>
              <a:latin typeface="Roboto"/>
              <a:ea typeface="Roboto"/>
              <a:cs typeface="Roboto"/>
              <a:sym typeface="Roboto"/>
            </a:endParaRPr>
          </a:p>
          <a:p>
            <a:pPr marL="770253" lvl="1" indent="-457200">
              <a:lnSpc>
                <a:spcPts val="4059"/>
              </a:lnSpc>
              <a:buFont typeface="Arial" pitchFamily="34" charset="0"/>
              <a:buChar char="•"/>
            </a:pPr>
            <a:r>
              <a:rPr lang="en-US" sz="2899" dirty="0" smtClean="0">
                <a:solidFill>
                  <a:srgbClr val="5B694E"/>
                </a:solidFill>
                <a:latin typeface="Roboto"/>
                <a:ea typeface="Roboto"/>
                <a:cs typeface="Roboto"/>
                <a:sym typeface="Roboto"/>
              </a:rPr>
              <a:t>This </a:t>
            </a:r>
            <a:r>
              <a:rPr lang="en-US" sz="2899" dirty="0">
                <a:solidFill>
                  <a:srgbClr val="5B694E"/>
                </a:solidFill>
                <a:latin typeface="Roboto"/>
                <a:ea typeface="Roboto"/>
                <a:cs typeface="Roboto"/>
                <a:sym typeface="Roboto"/>
              </a:rPr>
              <a:t>solution improves awareness, accessibility, and efficiency in accessing government benefits </a:t>
            </a:r>
            <a:endParaRPr lang="en-US" sz="2899" dirty="0" smtClean="0">
              <a:solidFill>
                <a:srgbClr val="5B694E"/>
              </a:solidFill>
              <a:latin typeface="Roboto"/>
              <a:ea typeface="Roboto"/>
              <a:cs typeface="Roboto"/>
              <a:sym typeface="Roboto"/>
            </a:endParaRPr>
          </a:p>
          <a:p>
            <a:pPr marL="313053" lvl="1" algn="ctr">
              <a:lnSpc>
                <a:spcPts val="4059"/>
              </a:lnSpc>
            </a:pPr>
            <a:endParaRPr lang="en-US" sz="2899" dirty="0">
              <a:solidFill>
                <a:srgbClr val="5B694E"/>
              </a:solidFill>
              <a:latin typeface="Roboto"/>
              <a:ea typeface="Roboto"/>
              <a:cs typeface="Roboto"/>
              <a:sym typeface="Roboto"/>
            </a:endParaRPr>
          </a:p>
          <a:p>
            <a:pPr algn="ctr">
              <a:lnSpc>
                <a:spcPts val="4059"/>
              </a:lnSpc>
            </a:pPr>
            <a:endParaRPr lang="en-US" sz="2899" dirty="0">
              <a:solidFill>
                <a:srgbClr val="5B694E"/>
              </a:solidFill>
              <a:latin typeface="Roboto"/>
              <a:ea typeface="Roboto"/>
              <a:cs typeface="Roboto"/>
              <a:sym typeface="Roboto"/>
            </a:endParaRPr>
          </a:p>
        </p:txBody>
      </p:sp>
      <p:grpSp>
        <p:nvGrpSpPr>
          <p:cNvPr id="17" name="Group 17"/>
          <p:cNvGrpSpPr/>
          <p:nvPr/>
        </p:nvGrpSpPr>
        <p:grpSpPr>
          <a:xfrm rot="-10800000">
            <a:off x="14577332" y="-2218134"/>
            <a:ext cx="7421336" cy="6493669"/>
            <a:chOff x="0" y="0"/>
            <a:chExt cx="812800" cy="711200"/>
          </a:xfrm>
        </p:grpSpPr>
        <p:sp>
          <p:nvSpPr>
            <p:cNvPr id="18" name="Freeform 18"/>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19" name="TextBox 19"/>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rot="5400000">
            <a:off x="14304978" y="-1794032"/>
            <a:ext cx="2052896" cy="3592568"/>
            <a:chOff x="0" y="0"/>
            <a:chExt cx="2737195" cy="4790090"/>
          </a:xfrm>
        </p:grpSpPr>
        <p:grpSp>
          <p:nvGrpSpPr>
            <p:cNvPr id="21" name="Group 21"/>
            <p:cNvGrpSpPr/>
            <p:nvPr/>
          </p:nvGrpSpPr>
          <p:grpSpPr>
            <a:xfrm>
              <a:off x="0" y="0"/>
              <a:ext cx="2737195" cy="2395045"/>
              <a:chOff x="0" y="0"/>
              <a:chExt cx="812800" cy="711200"/>
            </a:xfrm>
          </p:grpSpPr>
          <p:sp>
            <p:nvSpPr>
              <p:cNvPr id="22" name="Freeform 22"/>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23" name="TextBox 23"/>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rot="-10800000">
              <a:off x="0" y="2395045"/>
              <a:ext cx="2737195" cy="2395045"/>
              <a:chOff x="0" y="0"/>
              <a:chExt cx="812800" cy="711200"/>
            </a:xfrm>
          </p:grpSpPr>
          <p:sp>
            <p:nvSpPr>
              <p:cNvPr id="25" name="Freeform 25"/>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26" name="TextBox 26"/>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3710668" y="6011466"/>
            <a:ext cx="7421336" cy="6493669"/>
            <a:chOff x="0" y="0"/>
            <a:chExt cx="812800" cy="711200"/>
          </a:xfrm>
        </p:grpSpPr>
        <p:sp>
          <p:nvSpPr>
            <p:cNvPr id="4" name="Freeform 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5" name="TextBox 5"/>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5400000">
            <a:off x="2696678" y="9388858"/>
            <a:ext cx="2052896" cy="1796284"/>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8" name="TextBox 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4577332" y="-2218134"/>
            <a:ext cx="7421336" cy="6493669"/>
            <a:chOff x="0" y="0"/>
            <a:chExt cx="812800" cy="711200"/>
          </a:xfrm>
        </p:grpSpPr>
        <p:sp>
          <p:nvSpPr>
            <p:cNvPr id="10" name="Freeform 1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11" name="TextBox 11"/>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rot="5400000">
            <a:off x="14304978" y="-1794032"/>
            <a:ext cx="2052896" cy="3592568"/>
            <a:chOff x="0" y="0"/>
            <a:chExt cx="2737195" cy="4790090"/>
          </a:xfrm>
        </p:grpSpPr>
        <p:grpSp>
          <p:nvGrpSpPr>
            <p:cNvPr id="13" name="Group 13"/>
            <p:cNvGrpSpPr/>
            <p:nvPr/>
          </p:nvGrpSpPr>
          <p:grpSpPr>
            <a:xfrm>
              <a:off x="0" y="0"/>
              <a:ext cx="2737195" cy="2395045"/>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15" name="TextBox 15"/>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rot="-10800000">
              <a:off x="0" y="2395045"/>
              <a:ext cx="2737195" cy="2395045"/>
              <a:chOff x="0" y="0"/>
              <a:chExt cx="812800" cy="711200"/>
            </a:xfrm>
          </p:grpSpPr>
          <p:sp>
            <p:nvSpPr>
              <p:cNvPr id="17" name="Freeform 1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18" name="TextBox 1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grpSp>
        <p:nvGrpSpPr>
          <p:cNvPr id="19" name="Group 19"/>
          <p:cNvGrpSpPr/>
          <p:nvPr/>
        </p:nvGrpSpPr>
        <p:grpSpPr>
          <a:xfrm rot="-5400000">
            <a:off x="900394" y="9388858"/>
            <a:ext cx="2052896" cy="1796284"/>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21" name="TextBox 21"/>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22"/>
          <p:cNvSpPr txBox="1"/>
          <p:nvPr/>
        </p:nvSpPr>
        <p:spPr>
          <a:xfrm>
            <a:off x="4953000" y="421969"/>
            <a:ext cx="8147965" cy="821700"/>
          </a:xfrm>
          <a:prstGeom prst="rect">
            <a:avLst/>
          </a:prstGeom>
        </p:spPr>
        <p:txBody>
          <a:bodyPr wrap="square" lIns="0" tIns="0" rIns="0" bIns="0" rtlCol="0" anchor="t">
            <a:spAutoFit/>
          </a:bodyPr>
          <a:lstStyle/>
          <a:p>
            <a:pPr algn="ctr">
              <a:lnSpc>
                <a:spcPts val="7000"/>
              </a:lnSpc>
            </a:pPr>
            <a:r>
              <a:rPr lang="en-US" sz="5000" b="1" dirty="0">
                <a:solidFill>
                  <a:srgbClr val="545454"/>
                </a:solidFill>
                <a:latin typeface="Georgia" pitchFamily="18" charset="0"/>
                <a:ea typeface="Hussar Bold"/>
                <a:cs typeface="Hussar Bold"/>
                <a:sym typeface="Hussar Bold"/>
              </a:rPr>
              <a:t>PROBLEM STATEMENT</a:t>
            </a:r>
          </a:p>
        </p:txBody>
      </p:sp>
      <p:sp>
        <p:nvSpPr>
          <p:cNvPr id="23" name="TextBox 23"/>
          <p:cNvSpPr txBox="1"/>
          <p:nvPr/>
        </p:nvSpPr>
        <p:spPr>
          <a:xfrm>
            <a:off x="16405423" y="9070175"/>
            <a:ext cx="853877" cy="643964"/>
          </a:xfrm>
          <a:prstGeom prst="rect">
            <a:avLst/>
          </a:prstGeom>
        </p:spPr>
        <p:txBody>
          <a:bodyPr lIns="0" tIns="0" rIns="0" bIns="0" rtlCol="0" anchor="t">
            <a:spAutoFit/>
          </a:bodyPr>
          <a:lstStyle/>
          <a:p>
            <a:pPr algn="ctr">
              <a:lnSpc>
                <a:spcPts val="5312"/>
              </a:lnSpc>
            </a:pPr>
            <a:r>
              <a:rPr lang="en-US" sz="3794">
                <a:solidFill>
                  <a:srgbClr val="545454"/>
                </a:solidFill>
                <a:latin typeface="Hussar Bold"/>
                <a:ea typeface="Hussar Bold"/>
                <a:cs typeface="Hussar Bold"/>
                <a:sym typeface="Hussar Bold"/>
              </a:rPr>
              <a:t>02</a:t>
            </a:r>
          </a:p>
        </p:txBody>
      </p:sp>
      <p:sp>
        <p:nvSpPr>
          <p:cNvPr id="24" name="TextBox 24"/>
          <p:cNvSpPr txBox="1"/>
          <p:nvPr/>
        </p:nvSpPr>
        <p:spPr>
          <a:xfrm>
            <a:off x="3027631" y="1404278"/>
            <a:ext cx="12409538" cy="8938344"/>
          </a:xfrm>
          <a:prstGeom prst="rect">
            <a:avLst/>
          </a:prstGeom>
        </p:spPr>
        <p:txBody>
          <a:bodyPr wrap="square" lIns="0" tIns="0" rIns="0" bIns="0" rtlCol="0" anchor="t">
            <a:spAutoFit/>
          </a:bodyPr>
          <a:lstStyle/>
          <a:p>
            <a:pPr marL="770253" lvl="1" indent="-457200">
              <a:lnSpc>
                <a:spcPts val="4059"/>
              </a:lnSpc>
              <a:buFont typeface="Wingdings" pitchFamily="2" charset="2"/>
              <a:buChar char="Ø"/>
            </a:pPr>
            <a:r>
              <a:rPr lang="en-US" sz="2899" b="1" dirty="0" smtClean="0">
                <a:solidFill>
                  <a:srgbClr val="5B694E"/>
                </a:solidFill>
                <a:latin typeface="Perpetua Titling MT" pitchFamily="18" charset="0"/>
                <a:ea typeface="Roboto"/>
                <a:cs typeface="Roboto"/>
                <a:sym typeface="Roboto"/>
              </a:rPr>
              <a:t>Problem Statement</a:t>
            </a:r>
            <a:r>
              <a:rPr lang="en-US" sz="2899" dirty="0" smtClean="0">
                <a:solidFill>
                  <a:srgbClr val="5B694E"/>
                </a:solidFill>
                <a:latin typeface="Roboto"/>
                <a:ea typeface="Roboto"/>
                <a:cs typeface="Roboto"/>
                <a:sym typeface="Roboto"/>
              </a:rPr>
              <a:t>:</a:t>
            </a:r>
          </a:p>
          <a:p>
            <a:pPr marL="313053" lvl="1" algn="just">
              <a:lnSpc>
                <a:spcPts val="4059"/>
              </a:lnSpc>
            </a:pPr>
            <a:r>
              <a:rPr lang="en-US" sz="2899" dirty="0" smtClean="0">
                <a:solidFill>
                  <a:srgbClr val="5B694E"/>
                </a:solidFill>
                <a:latin typeface="Roboto"/>
                <a:ea typeface="Roboto"/>
                <a:cs typeface="Roboto"/>
                <a:sym typeface="Roboto"/>
              </a:rPr>
              <a:t>                       </a:t>
            </a:r>
            <a:r>
              <a:rPr lang="en-US" sz="2899" dirty="0" smtClean="0">
                <a:solidFill>
                  <a:srgbClr val="5B694E"/>
                </a:solidFill>
                <a:latin typeface="Palatino Linotype" pitchFamily="18" charset="0"/>
                <a:ea typeface="Roboto"/>
                <a:cs typeface="Roboto"/>
                <a:sym typeface="Roboto"/>
              </a:rPr>
              <a:t>Many </a:t>
            </a:r>
            <a:r>
              <a:rPr lang="en-US" sz="2899" dirty="0">
                <a:solidFill>
                  <a:srgbClr val="5B694E"/>
                </a:solidFill>
                <a:latin typeface="Palatino Linotype" pitchFamily="18" charset="0"/>
                <a:ea typeface="Roboto"/>
                <a:cs typeface="Roboto"/>
                <a:sym typeface="Roboto"/>
              </a:rPr>
              <a:t>citizens are unaware of the government welfare schemes provided by the Government of India and state governments because the information is scattered and eligibility rules are complex. An Autonomous Scheme Navigator is needed to automatically identify and recommend schemes suitable for citizens based on their personal details</a:t>
            </a:r>
            <a:r>
              <a:rPr lang="en-US" sz="2899" dirty="0" smtClean="0">
                <a:solidFill>
                  <a:srgbClr val="5B694E"/>
                </a:solidFill>
                <a:latin typeface="Roboto"/>
                <a:ea typeface="Roboto"/>
                <a:cs typeface="Roboto"/>
                <a:sym typeface="Roboto"/>
              </a:rPr>
              <a:t>. </a:t>
            </a:r>
          </a:p>
          <a:p>
            <a:pPr marL="770253" lvl="1" indent="-457200">
              <a:lnSpc>
                <a:spcPts val="4059"/>
              </a:lnSpc>
              <a:buFont typeface="Wingdings" pitchFamily="2" charset="2"/>
              <a:buChar char="Ø"/>
            </a:pPr>
            <a:r>
              <a:rPr lang="en-US" sz="2899" b="1" dirty="0">
                <a:solidFill>
                  <a:srgbClr val="5B694E"/>
                </a:solidFill>
                <a:latin typeface="Roboto"/>
                <a:ea typeface="Roboto"/>
                <a:cs typeface="Roboto"/>
                <a:sym typeface="Roboto"/>
              </a:rPr>
              <a:t> </a:t>
            </a:r>
            <a:r>
              <a:rPr lang="en-US" sz="2899" b="1" dirty="0" smtClean="0">
                <a:solidFill>
                  <a:srgbClr val="5B694E"/>
                </a:solidFill>
                <a:latin typeface="Perpetua Titling MT" pitchFamily="18" charset="0"/>
                <a:ea typeface="Roboto"/>
                <a:cs typeface="Roboto"/>
                <a:sym typeface="Roboto"/>
              </a:rPr>
              <a:t>Real-World </a:t>
            </a:r>
            <a:r>
              <a:rPr lang="en-US" sz="2899" b="1" dirty="0">
                <a:solidFill>
                  <a:srgbClr val="5B694E"/>
                </a:solidFill>
                <a:latin typeface="Perpetua Titling MT" pitchFamily="18" charset="0"/>
                <a:ea typeface="Roboto"/>
                <a:cs typeface="Roboto"/>
                <a:sym typeface="Roboto"/>
              </a:rPr>
              <a:t>Problem</a:t>
            </a:r>
            <a:r>
              <a:rPr lang="en-US" sz="2899" dirty="0" smtClean="0">
                <a:solidFill>
                  <a:srgbClr val="5B694E"/>
                </a:solidFill>
                <a:latin typeface="Roboto"/>
                <a:ea typeface="Roboto"/>
                <a:cs typeface="Roboto"/>
                <a:sym typeface="Roboto"/>
              </a:rPr>
              <a:t>:</a:t>
            </a:r>
          </a:p>
          <a:p>
            <a:pPr marL="313053" lvl="1" algn="just">
              <a:lnSpc>
                <a:spcPts val="4059"/>
              </a:lnSpc>
            </a:pPr>
            <a:r>
              <a:rPr lang="en-US" sz="2899" dirty="0" smtClean="0">
                <a:solidFill>
                  <a:srgbClr val="5B694E"/>
                </a:solidFill>
                <a:latin typeface="Palatino Linotype" pitchFamily="18" charset="0"/>
                <a:ea typeface="Roboto"/>
                <a:cs typeface="Roboto"/>
                <a:sym typeface="Roboto"/>
              </a:rPr>
              <a:t>                        People </a:t>
            </a:r>
            <a:r>
              <a:rPr lang="en-US" sz="2899" dirty="0">
                <a:solidFill>
                  <a:srgbClr val="5B694E"/>
                </a:solidFill>
                <a:latin typeface="Palatino Linotype" pitchFamily="18" charset="0"/>
                <a:ea typeface="Roboto"/>
                <a:cs typeface="Roboto"/>
                <a:sym typeface="Roboto"/>
              </a:rPr>
              <a:t>find it difficult to search, understand, and apply for the right government schemes</a:t>
            </a:r>
            <a:r>
              <a:rPr lang="en-US" sz="2899" dirty="0" smtClean="0">
                <a:solidFill>
                  <a:srgbClr val="5B694E"/>
                </a:solidFill>
                <a:latin typeface="Roboto"/>
                <a:ea typeface="Roboto"/>
                <a:cs typeface="Roboto"/>
                <a:sym typeface="Roboto"/>
              </a:rPr>
              <a:t>.</a:t>
            </a:r>
          </a:p>
          <a:p>
            <a:pPr marL="770253" lvl="1" indent="-457200">
              <a:lnSpc>
                <a:spcPts val="4059"/>
              </a:lnSpc>
              <a:buFont typeface="Wingdings" pitchFamily="2" charset="2"/>
              <a:buChar char="Ø"/>
            </a:pPr>
            <a:r>
              <a:rPr lang="en-US" sz="2899" b="1" dirty="0" smtClean="0">
                <a:solidFill>
                  <a:srgbClr val="5B694E"/>
                </a:solidFill>
                <a:latin typeface="Perpetua Titling MT" pitchFamily="18" charset="0"/>
                <a:ea typeface="Roboto"/>
                <a:cs typeface="Roboto"/>
                <a:sym typeface="Roboto"/>
              </a:rPr>
              <a:t> Why </a:t>
            </a:r>
            <a:r>
              <a:rPr lang="en-US" sz="2899" b="1" dirty="0">
                <a:solidFill>
                  <a:srgbClr val="5B694E"/>
                </a:solidFill>
                <a:latin typeface="Perpetua Titling MT" pitchFamily="18" charset="0"/>
                <a:ea typeface="Roboto"/>
                <a:cs typeface="Roboto"/>
                <a:sym typeface="Roboto"/>
              </a:rPr>
              <a:t>the Problem Is Important</a:t>
            </a:r>
            <a:r>
              <a:rPr lang="en-US" sz="2899" dirty="0" smtClean="0">
                <a:solidFill>
                  <a:srgbClr val="5B694E"/>
                </a:solidFill>
                <a:latin typeface="Roboto"/>
                <a:ea typeface="Roboto"/>
                <a:cs typeface="Roboto"/>
                <a:sym typeface="Roboto"/>
              </a:rPr>
              <a:t>:</a:t>
            </a:r>
          </a:p>
          <a:p>
            <a:pPr marL="313053" lvl="1" algn="just">
              <a:lnSpc>
                <a:spcPts val="4059"/>
              </a:lnSpc>
            </a:pPr>
            <a:r>
              <a:rPr lang="en-US" sz="2899" dirty="0" smtClean="0">
                <a:solidFill>
                  <a:srgbClr val="5B694E"/>
                </a:solidFill>
                <a:latin typeface="Palatino Linotype" pitchFamily="18" charset="0"/>
                <a:ea typeface="Roboto"/>
                <a:cs typeface="Roboto"/>
                <a:sym typeface="Roboto"/>
              </a:rPr>
              <a:t>                        If </a:t>
            </a:r>
            <a:r>
              <a:rPr lang="en-US" sz="2899" dirty="0">
                <a:solidFill>
                  <a:srgbClr val="5B694E"/>
                </a:solidFill>
                <a:latin typeface="Palatino Linotype" pitchFamily="18" charset="0"/>
                <a:ea typeface="Roboto"/>
                <a:cs typeface="Roboto"/>
                <a:sym typeface="Roboto"/>
              </a:rPr>
              <a:t>people do not know about schemes, they cannot receive benefits like financial aid, scholarships, healthcare, or </a:t>
            </a:r>
            <a:r>
              <a:rPr lang="en-US" sz="2899" dirty="0" smtClean="0">
                <a:solidFill>
                  <a:srgbClr val="5B694E"/>
                </a:solidFill>
                <a:latin typeface="Palatino Linotype" pitchFamily="18" charset="0"/>
                <a:ea typeface="Roboto"/>
                <a:cs typeface="Roboto"/>
                <a:sym typeface="Roboto"/>
              </a:rPr>
              <a:t>subsidies </a:t>
            </a:r>
          </a:p>
          <a:p>
            <a:pPr marL="770253" lvl="1" indent="-457200">
              <a:lnSpc>
                <a:spcPts val="4059"/>
              </a:lnSpc>
              <a:buFont typeface="Wingdings" pitchFamily="2" charset="2"/>
              <a:buChar char="Ø"/>
            </a:pPr>
            <a:r>
              <a:rPr lang="en-US" sz="2899" b="1" dirty="0" smtClean="0">
                <a:solidFill>
                  <a:srgbClr val="5B694E"/>
                </a:solidFill>
                <a:latin typeface="Perpetua Titling MT" pitchFamily="18" charset="0"/>
                <a:ea typeface="Roboto"/>
                <a:cs typeface="Roboto"/>
                <a:sym typeface="Roboto"/>
              </a:rPr>
              <a:t>who Is </a:t>
            </a:r>
            <a:r>
              <a:rPr lang="en-US" sz="2899" b="1" dirty="0">
                <a:solidFill>
                  <a:srgbClr val="5B694E"/>
                </a:solidFill>
                <a:latin typeface="Perpetua Titling MT" pitchFamily="18" charset="0"/>
                <a:ea typeface="Roboto"/>
                <a:cs typeface="Roboto"/>
                <a:sym typeface="Roboto"/>
              </a:rPr>
              <a:t>Affected</a:t>
            </a:r>
            <a:r>
              <a:rPr lang="en-US" sz="2899" dirty="0" smtClean="0">
                <a:solidFill>
                  <a:srgbClr val="5B694E"/>
                </a:solidFill>
                <a:latin typeface="Roboto"/>
                <a:ea typeface="Roboto"/>
                <a:cs typeface="Roboto"/>
                <a:sym typeface="Roboto"/>
              </a:rPr>
              <a:t>:</a:t>
            </a:r>
          </a:p>
          <a:p>
            <a:pPr marL="313053" lvl="1" algn="just">
              <a:lnSpc>
                <a:spcPts val="4059"/>
              </a:lnSpc>
            </a:pPr>
            <a:r>
              <a:rPr lang="en-US" sz="2899" dirty="0" smtClean="0">
                <a:solidFill>
                  <a:srgbClr val="5B694E"/>
                </a:solidFill>
                <a:latin typeface="Palatino Linotype" pitchFamily="18" charset="0"/>
                <a:ea typeface="Roboto"/>
                <a:cs typeface="Roboto"/>
                <a:sym typeface="Roboto"/>
              </a:rPr>
              <a:t>                        Low-income </a:t>
            </a:r>
            <a:r>
              <a:rPr lang="en-US" sz="2899" dirty="0">
                <a:solidFill>
                  <a:srgbClr val="5B694E"/>
                </a:solidFill>
                <a:latin typeface="Palatino Linotype" pitchFamily="18" charset="0"/>
                <a:ea typeface="Roboto"/>
                <a:cs typeface="Roboto"/>
                <a:sym typeface="Roboto"/>
              </a:rPr>
              <a:t>families, students, farmers, senior citizens, and </a:t>
            </a:r>
            <a:r>
              <a:rPr lang="en-US" sz="2899" dirty="0" smtClean="0">
                <a:solidFill>
                  <a:srgbClr val="5B694E"/>
                </a:solidFill>
                <a:latin typeface="Palatino Linotype" pitchFamily="18" charset="0"/>
                <a:ea typeface="Roboto"/>
                <a:cs typeface="Roboto"/>
                <a:sym typeface="Roboto"/>
              </a:rPr>
              <a:t>   rural </a:t>
            </a:r>
            <a:r>
              <a:rPr lang="en-US" sz="2899" dirty="0">
                <a:solidFill>
                  <a:srgbClr val="5B694E"/>
                </a:solidFill>
                <a:latin typeface="Palatino Linotype" pitchFamily="18" charset="0"/>
                <a:ea typeface="Roboto"/>
                <a:cs typeface="Roboto"/>
                <a:sym typeface="Roboto"/>
              </a:rPr>
              <a:t>communities</a:t>
            </a:r>
            <a:r>
              <a:rPr lang="en-US" sz="2899" dirty="0" smtClean="0">
                <a:solidFill>
                  <a:srgbClr val="5B694E"/>
                </a:solidFill>
                <a:latin typeface="Palatino Linotype" pitchFamily="18" charset="0"/>
                <a:ea typeface="Roboto"/>
                <a:cs typeface="Roboto"/>
                <a:sym typeface="Roboto"/>
              </a:rPr>
              <a:t>.</a:t>
            </a:r>
          </a:p>
          <a:p>
            <a:pPr marL="313053" lvl="1" algn="ctr">
              <a:lnSpc>
                <a:spcPts val="4059"/>
              </a:lnSpc>
            </a:pPr>
            <a:endParaRPr lang="en-US" sz="2899" dirty="0">
              <a:solidFill>
                <a:srgbClr val="5B694E"/>
              </a:solidFill>
              <a:latin typeface="Roboto"/>
              <a:ea typeface="Roboto"/>
              <a:cs typeface="Roboto"/>
              <a:sym typeface="Roboto"/>
            </a:endParaRPr>
          </a:p>
          <a:p>
            <a:pPr algn="ctr">
              <a:lnSpc>
                <a:spcPts val="4059"/>
              </a:lnSpc>
            </a:pPr>
            <a:endParaRPr lang="en-US" sz="2899" dirty="0">
              <a:solidFill>
                <a:srgbClr val="5B694E"/>
              </a:solidFill>
              <a:latin typeface="Roboto"/>
              <a:ea typeface="Roboto"/>
              <a:cs typeface="Roboto"/>
              <a:sym typeface="Roboto"/>
            </a:endParaRPr>
          </a:p>
        </p:txBody>
      </p:sp>
      <p:sp>
        <p:nvSpPr>
          <p:cNvPr id="25" name="Freeform 25"/>
          <p:cNvSpPr/>
          <p:nvPr/>
        </p:nvSpPr>
        <p:spPr>
          <a:xfrm>
            <a:off x="432650" y="525175"/>
            <a:ext cx="1042825" cy="1109795"/>
          </a:xfrm>
          <a:custGeom>
            <a:avLst/>
            <a:gdLst/>
            <a:ahLst/>
            <a:cxnLst/>
            <a:rect l="l" t="t" r="r" b="b"/>
            <a:pathLst>
              <a:path w="1042825" h="1109795">
                <a:moveTo>
                  <a:pt x="0" y="0"/>
                </a:moveTo>
                <a:lnTo>
                  <a:pt x="1042825" y="0"/>
                </a:lnTo>
                <a:lnTo>
                  <a:pt x="1042825" y="1109796"/>
                </a:lnTo>
                <a:lnTo>
                  <a:pt x="0" y="1109796"/>
                </a:lnTo>
                <a:lnTo>
                  <a:pt x="0" y="0"/>
                </a:lnTo>
                <a:close/>
              </a:path>
            </a:pathLst>
          </a:custGeom>
          <a:blipFill>
            <a:blip r:embed="rId3"/>
            <a:stretch>
              <a:fillRect/>
            </a:stretch>
          </a:blipFill>
        </p:spPr>
      </p:sp>
      <p:sp>
        <p:nvSpPr>
          <p:cNvPr id="26" name="Freeform 26"/>
          <p:cNvSpPr/>
          <p:nvPr/>
        </p:nvSpPr>
        <p:spPr>
          <a:xfrm>
            <a:off x="1622953" y="525175"/>
            <a:ext cx="1399814" cy="1192193"/>
          </a:xfrm>
          <a:custGeom>
            <a:avLst/>
            <a:gdLst/>
            <a:ahLst/>
            <a:cxnLst/>
            <a:rect l="l" t="t" r="r" b="b"/>
            <a:pathLst>
              <a:path w="1399814" h="1192193">
                <a:moveTo>
                  <a:pt x="0" y="0"/>
                </a:moveTo>
                <a:lnTo>
                  <a:pt x="1399815" y="0"/>
                </a:lnTo>
                <a:lnTo>
                  <a:pt x="1399815" y="1192193"/>
                </a:lnTo>
                <a:lnTo>
                  <a:pt x="0" y="1192193"/>
                </a:lnTo>
                <a:lnTo>
                  <a:pt x="0" y="0"/>
                </a:lnTo>
                <a:close/>
              </a:path>
            </a:pathLst>
          </a:custGeom>
          <a:blipFill>
            <a:blip r:embed="rId4"/>
            <a:stretch>
              <a:fillRect l="-9405" t="-13167" r="-9405" b="-26334"/>
            </a:stretch>
          </a:blipFill>
        </p:spPr>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940" y="2413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3710668" y="6011466"/>
            <a:ext cx="7421336" cy="6493669"/>
            <a:chOff x="0" y="0"/>
            <a:chExt cx="812800" cy="711200"/>
          </a:xfrm>
        </p:grpSpPr>
        <p:sp>
          <p:nvSpPr>
            <p:cNvPr id="4" name="Freeform 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5" name="TextBox 5"/>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5400000">
            <a:off x="2696678" y="9388858"/>
            <a:ext cx="2052896" cy="1796284"/>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8" name="TextBox 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4577332" y="-2218134"/>
            <a:ext cx="7421336" cy="6493669"/>
            <a:chOff x="0" y="0"/>
            <a:chExt cx="812800" cy="711200"/>
          </a:xfrm>
        </p:grpSpPr>
        <p:sp>
          <p:nvSpPr>
            <p:cNvPr id="10" name="Freeform 1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11" name="TextBox 11"/>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rot="5400000">
            <a:off x="14304978" y="-1794032"/>
            <a:ext cx="2052896" cy="3592568"/>
            <a:chOff x="0" y="0"/>
            <a:chExt cx="2737195" cy="4790090"/>
          </a:xfrm>
        </p:grpSpPr>
        <p:grpSp>
          <p:nvGrpSpPr>
            <p:cNvPr id="13" name="Group 13"/>
            <p:cNvGrpSpPr/>
            <p:nvPr/>
          </p:nvGrpSpPr>
          <p:grpSpPr>
            <a:xfrm>
              <a:off x="0" y="0"/>
              <a:ext cx="2737195" cy="2395045"/>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15" name="TextBox 15"/>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rot="-10800000">
              <a:off x="0" y="2395045"/>
              <a:ext cx="2737195" cy="2395045"/>
              <a:chOff x="0" y="0"/>
              <a:chExt cx="812800" cy="711200"/>
            </a:xfrm>
          </p:grpSpPr>
          <p:sp>
            <p:nvSpPr>
              <p:cNvPr id="17" name="Freeform 1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18" name="TextBox 1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grpSp>
        <p:nvGrpSpPr>
          <p:cNvPr id="19" name="Group 19"/>
          <p:cNvGrpSpPr/>
          <p:nvPr/>
        </p:nvGrpSpPr>
        <p:grpSpPr>
          <a:xfrm rot="-5400000">
            <a:off x="900394" y="9388858"/>
            <a:ext cx="2052896" cy="1796284"/>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21" name="TextBox 21"/>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22"/>
          <p:cNvSpPr txBox="1"/>
          <p:nvPr/>
        </p:nvSpPr>
        <p:spPr>
          <a:xfrm>
            <a:off x="16405423" y="9070175"/>
            <a:ext cx="853877" cy="643964"/>
          </a:xfrm>
          <a:prstGeom prst="rect">
            <a:avLst/>
          </a:prstGeom>
        </p:spPr>
        <p:txBody>
          <a:bodyPr lIns="0" tIns="0" rIns="0" bIns="0" rtlCol="0" anchor="t">
            <a:spAutoFit/>
          </a:bodyPr>
          <a:lstStyle/>
          <a:p>
            <a:pPr algn="ctr">
              <a:lnSpc>
                <a:spcPts val="5312"/>
              </a:lnSpc>
            </a:pPr>
            <a:r>
              <a:rPr lang="en-US" sz="3794">
                <a:solidFill>
                  <a:srgbClr val="545454"/>
                </a:solidFill>
                <a:latin typeface="Hussar Bold"/>
                <a:ea typeface="Hussar Bold"/>
                <a:cs typeface="Hussar Bold"/>
                <a:sym typeface="Hussar Bold"/>
              </a:rPr>
              <a:t>03</a:t>
            </a:r>
          </a:p>
        </p:txBody>
      </p:sp>
      <p:sp>
        <p:nvSpPr>
          <p:cNvPr id="23" name="TextBox 23"/>
          <p:cNvSpPr txBox="1"/>
          <p:nvPr/>
        </p:nvSpPr>
        <p:spPr>
          <a:xfrm>
            <a:off x="5459314" y="853769"/>
            <a:ext cx="7369373" cy="821700"/>
          </a:xfrm>
          <a:prstGeom prst="rect">
            <a:avLst/>
          </a:prstGeom>
        </p:spPr>
        <p:txBody>
          <a:bodyPr lIns="0" tIns="0" rIns="0" bIns="0" rtlCol="0" anchor="t">
            <a:spAutoFit/>
          </a:bodyPr>
          <a:lstStyle/>
          <a:p>
            <a:pPr algn="ctr">
              <a:lnSpc>
                <a:spcPts val="7000"/>
              </a:lnSpc>
            </a:pPr>
            <a:r>
              <a:rPr lang="en-US" sz="5000" b="1" dirty="0">
                <a:solidFill>
                  <a:srgbClr val="545454"/>
                </a:solidFill>
                <a:latin typeface="Georgia" pitchFamily="18" charset="0"/>
                <a:ea typeface="Hussar Bold"/>
                <a:cs typeface="Hussar Bold"/>
                <a:sym typeface="Hussar Bold"/>
              </a:rPr>
              <a:t>EXISTING SOLUTION</a:t>
            </a:r>
          </a:p>
        </p:txBody>
      </p:sp>
      <p:sp>
        <p:nvSpPr>
          <p:cNvPr id="24" name="TextBox 24"/>
          <p:cNvSpPr txBox="1"/>
          <p:nvPr/>
        </p:nvSpPr>
        <p:spPr>
          <a:xfrm>
            <a:off x="2522955" y="2247900"/>
            <a:ext cx="12680166" cy="5257850"/>
          </a:xfrm>
          <a:prstGeom prst="rect">
            <a:avLst/>
          </a:prstGeom>
        </p:spPr>
        <p:txBody>
          <a:bodyPr lIns="0" tIns="0" rIns="0" bIns="0" rtlCol="0" anchor="t">
            <a:spAutoFit/>
          </a:bodyPr>
          <a:lstStyle/>
          <a:p>
            <a:pPr marL="770253" lvl="1" indent="-457200" algn="just">
              <a:lnSpc>
                <a:spcPts val="4059"/>
              </a:lnSpc>
              <a:buFont typeface="Arial" pitchFamily="34" charset="0"/>
              <a:buChar char="•"/>
            </a:pPr>
            <a:r>
              <a:rPr lang="en-US" sz="2899" dirty="0" smtClean="0">
                <a:solidFill>
                  <a:srgbClr val="5B694E"/>
                </a:solidFill>
                <a:latin typeface="Palatino Linotype" pitchFamily="18" charset="0"/>
                <a:ea typeface="Roboto"/>
                <a:cs typeface="Roboto"/>
                <a:sym typeface="Roboto"/>
              </a:rPr>
              <a:t>Platforms </a:t>
            </a:r>
            <a:r>
              <a:rPr lang="en-US" sz="2899" dirty="0">
                <a:solidFill>
                  <a:srgbClr val="5B694E"/>
                </a:solidFill>
                <a:latin typeface="Palatino Linotype" pitchFamily="18" charset="0"/>
                <a:ea typeface="Roboto"/>
                <a:cs typeface="Roboto"/>
                <a:sym typeface="Roboto"/>
              </a:rPr>
              <a:t>like </a:t>
            </a:r>
            <a:r>
              <a:rPr lang="en-US" sz="2899" dirty="0" smtClean="0">
                <a:solidFill>
                  <a:srgbClr val="5B694E"/>
                </a:solidFill>
                <a:latin typeface="Palatino Linotype" pitchFamily="18" charset="0"/>
                <a:ea typeface="Roboto"/>
                <a:cs typeface="Roboto"/>
                <a:sym typeface="Roboto"/>
              </a:rPr>
              <a:t>my Scheme </a:t>
            </a:r>
            <a:r>
              <a:rPr lang="en-US" sz="2899" dirty="0">
                <a:solidFill>
                  <a:srgbClr val="5B694E"/>
                </a:solidFill>
                <a:latin typeface="Palatino Linotype" pitchFamily="18" charset="0"/>
                <a:ea typeface="Roboto"/>
                <a:cs typeface="Roboto"/>
                <a:sym typeface="Roboto"/>
              </a:rPr>
              <a:t>Portal developed by the Government of India provide information about various government schemes</a:t>
            </a:r>
            <a:r>
              <a:rPr lang="en-US" sz="2899" dirty="0" smtClean="0">
                <a:solidFill>
                  <a:srgbClr val="5B694E"/>
                </a:solidFill>
                <a:latin typeface="Palatino Linotype" pitchFamily="18" charset="0"/>
                <a:ea typeface="Roboto"/>
                <a:cs typeface="Roboto"/>
                <a:sym typeface="Roboto"/>
              </a:rPr>
              <a:t>.</a:t>
            </a:r>
          </a:p>
          <a:p>
            <a:pPr marL="770253" lvl="1" indent="-457200" algn="just">
              <a:lnSpc>
                <a:spcPts val="4059"/>
              </a:lnSpc>
              <a:buFont typeface="Arial" pitchFamily="34" charset="0"/>
              <a:buChar char="•"/>
            </a:pPr>
            <a:r>
              <a:rPr lang="en-US" sz="2899" dirty="0" smtClean="0">
                <a:solidFill>
                  <a:srgbClr val="5B694E"/>
                </a:solidFill>
                <a:latin typeface="Palatino Linotype" pitchFamily="18" charset="0"/>
                <a:ea typeface="Roboto"/>
                <a:cs typeface="Roboto"/>
                <a:sym typeface="Roboto"/>
              </a:rPr>
              <a:t>Users </a:t>
            </a:r>
            <a:r>
              <a:rPr lang="en-US" sz="2899" dirty="0">
                <a:solidFill>
                  <a:srgbClr val="5B694E"/>
                </a:solidFill>
                <a:latin typeface="Palatino Linotype" pitchFamily="18" charset="0"/>
                <a:ea typeface="Roboto"/>
                <a:cs typeface="Roboto"/>
                <a:sym typeface="Roboto"/>
              </a:rPr>
              <a:t>can search schemes and check eligibility through online portals</a:t>
            </a:r>
            <a:r>
              <a:rPr lang="en-US" sz="2899" dirty="0" smtClean="0">
                <a:solidFill>
                  <a:srgbClr val="5B694E"/>
                </a:solidFill>
                <a:latin typeface="Palatino Linotype" pitchFamily="18" charset="0"/>
                <a:ea typeface="Roboto"/>
                <a:cs typeface="Roboto"/>
                <a:sym typeface="Roboto"/>
              </a:rPr>
              <a:t>.</a:t>
            </a:r>
          </a:p>
          <a:p>
            <a:pPr marL="313053" lvl="1">
              <a:lnSpc>
                <a:spcPts val="4059"/>
              </a:lnSpc>
            </a:pPr>
            <a:r>
              <a:rPr lang="en-US" sz="2899" b="1" dirty="0" smtClean="0">
                <a:solidFill>
                  <a:srgbClr val="5B694E"/>
                </a:solidFill>
                <a:latin typeface="Perpetua Titling MT" pitchFamily="18" charset="0"/>
                <a:ea typeface="Roboto"/>
                <a:cs typeface="Roboto"/>
                <a:sym typeface="Roboto"/>
              </a:rPr>
              <a:t>Limitations: </a:t>
            </a:r>
          </a:p>
          <a:p>
            <a:pPr marL="770253" lvl="1" indent="-457200" algn="just">
              <a:lnSpc>
                <a:spcPts val="4059"/>
              </a:lnSpc>
              <a:buFont typeface="Arial" pitchFamily="34" charset="0"/>
              <a:buChar char="•"/>
            </a:pPr>
            <a:r>
              <a:rPr lang="en-US" sz="2899" dirty="0" smtClean="0">
                <a:solidFill>
                  <a:srgbClr val="5B694E"/>
                </a:solidFill>
                <a:latin typeface="Palatino Linotype" pitchFamily="18" charset="0"/>
                <a:ea typeface="Roboto"/>
                <a:cs typeface="Roboto"/>
                <a:sym typeface="Roboto"/>
              </a:rPr>
              <a:t>Limited </a:t>
            </a:r>
            <a:r>
              <a:rPr lang="en-US" sz="2899" dirty="0">
                <a:solidFill>
                  <a:srgbClr val="5B694E"/>
                </a:solidFill>
                <a:latin typeface="Palatino Linotype" pitchFamily="18" charset="0"/>
                <a:ea typeface="Roboto"/>
                <a:cs typeface="Roboto"/>
                <a:sym typeface="Roboto"/>
              </a:rPr>
              <a:t>personalized </a:t>
            </a:r>
            <a:r>
              <a:rPr lang="en-US" sz="2899" dirty="0" smtClean="0">
                <a:solidFill>
                  <a:srgbClr val="5B694E"/>
                </a:solidFill>
                <a:latin typeface="Palatino Linotype" pitchFamily="18" charset="0"/>
                <a:ea typeface="Roboto"/>
                <a:cs typeface="Roboto"/>
                <a:sym typeface="Roboto"/>
              </a:rPr>
              <a:t>recommendations Information </a:t>
            </a:r>
            <a:r>
              <a:rPr lang="en-US" sz="2899" dirty="0">
                <a:solidFill>
                  <a:srgbClr val="5B694E"/>
                </a:solidFill>
                <a:latin typeface="Palatino Linotype" pitchFamily="18" charset="0"/>
                <a:ea typeface="Roboto"/>
                <a:cs typeface="Roboto"/>
                <a:sym typeface="Roboto"/>
              </a:rPr>
              <a:t>is complex for </a:t>
            </a:r>
            <a:r>
              <a:rPr lang="en-US" sz="2899" dirty="0" smtClean="0">
                <a:solidFill>
                  <a:srgbClr val="5B694E"/>
                </a:solidFill>
                <a:latin typeface="Palatino Linotype" pitchFamily="18" charset="0"/>
                <a:ea typeface="Roboto"/>
                <a:cs typeface="Roboto"/>
                <a:sym typeface="Roboto"/>
              </a:rPr>
              <a:t>common users. </a:t>
            </a:r>
          </a:p>
          <a:p>
            <a:pPr marL="770253" lvl="1" indent="-457200" algn="just">
              <a:lnSpc>
                <a:spcPts val="4059"/>
              </a:lnSpc>
              <a:buFont typeface="Arial" pitchFamily="34" charset="0"/>
              <a:buChar char="•"/>
            </a:pPr>
            <a:r>
              <a:rPr lang="en-US" sz="2899" dirty="0" smtClean="0">
                <a:solidFill>
                  <a:srgbClr val="5B694E"/>
                </a:solidFill>
                <a:latin typeface="Palatino Linotype" pitchFamily="18" charset="0"/>
                <a:ea typeface="Roboto"/>
                <a:cs typeface="Roboto"/>
                <a:sym typeface="Roboto"/>
              </a:rPr>
              <a:t>Users must </a:t>
            </a:r>
            <a:r>
              <a:rPr lang="en-US" sz="2899" dirty="0">
                <a:solidFill>
                  <a:srgbClr val="5B694E"/>
                </a:solidFill>
                <a:latin typeface="Palatino Linotype" pitchFamily="18" charset="0"/>
                <a:ea typeface="Roboto"/>
                <a:cs typeface="Roboto"/>
                <a:sym typeface="Roboto"/>
              </a:rPr>
              <a:t>visit multiple websites to </a:t>
            </a:r>
            <a:r>
              <a:rPr lang="en-US" sz="2899" dirty="0" smtClean="0">
                <a:solidFill>
                  <a:srgbClr val="5B694E"/>
                </a:solidFill>
                <a:latin typeface="Palatino Linotype" pitchFamily="18" charset="0"/>
                <a:ea typeface="Roboto"/>
                <a:cs typeface="Roboto"/>
                <a:sym typeface="Roboto"/>
              </a:rPr>
              <a:t>apply. </a:t>
            </a:r>
          </a:p>
          <a:p>
            <a:pPr marL="770253" lvl="1" indent="-457200" algn="just">
              <a:lnSpc>
                <a:spcPts val="4059"/>
              </a:lnSpc>
              <a:buFont typeface="Arial" pitchFamily="34" charset="0"/>
              <a:buChar char="•"/>
            </a:pPr>
            <a:r>
              <a:rPr lang="en-US" sz="2899" dirty="0" smtClean="0">
                <a:solidFill>
                  <a:srgbClr val="5B694E"/>
                </a:solidFill>
                <a:latin typeface="Palatino Linotype" pitchFamily="18" charset="0"/>
                <a:ea typeface="Roboto"/>
                <a:cs typeface="Roboto"/>
                <a:sym typeface="Roboto"/>
              </a:rPr>
              <a:t>Low </a:t>
            </a:r>
            <a:r>
              <a:rPr lang="en-US" sz="2899" dirty="0">
                <a:solidFill>
                  <a:srgbClr val="5B694E"/>
                </a:solidFill>
                <a:latin typeface="Palatino Linotype" pitchFamily="18" charset="0"/>
                <a:ea typeface="Roboto"/>
                <a:cs typeface="Roboto"/>
                <a:sym typeface="Roboto"/>
              </a:rPr>
              <a:t>awareness and digital literacy in rural </a:t>
            </a:r>
            <a:r>
              <a:rPr lang="en-US" sz="2899" dirty="0" smtClean="0">
                <a:solidFill>
                  <a:srgbClr val="5B694E"/>
                </a:solidFill>
                <a:latin typeface="Palatino Linotype" pitchFamily="18" charset="0"/>
                <a:ea typeface="Roboto"/>
                <a:cs typeface="Roboto"/>
                <a:sym typeface="Roboto"/>
              </a:rPr>
              <a:t>areas.</a:t>
            </a:r>
          </a:p>
          <a:p>
            <a:pPr marL="770253" lvl="1" indent="-457200" algn="just">
              <a:lnSpc>
                <a:spcPts val="4059"/>
              </a:lnSpc>
              <a:buFont typeface="Arial" pitchFamily="34" charset="0"/>
              <a:buChar char="•"/>
            </a:pPr>
            <a:r>
              <a:rPr lang="en-US" sz="2899" dirty="0" smtClean="0">
                <a:solidFill>
                  <a:srgbClr val="5B694E"/>
                </a:solidFill>
                <a:latin typeface="Palatino Linotype" pitchFamily="18" charset="0"/>
                <a:ea typeface="Roboto"/>
                <a:cs typeface="Roboto"/>
                <a:sym typeface="Roboto"/>
              </a:rPr>
              <a:t> Language </a:t>
            </a:r>
            <a:r>
              <a:rPr lang="en-US" sz="2899" dirty="0">
                <a:solidFill>
                  <a:srgbClr val="5B694E"/>
                </a:solidFill>
                <a:latin typeface="Palatino Linotype" pitchFamily="18" charset="0"/>
                <a:ea typeface="Roboto"/>
                <a:cs typeface="Roboto"/>
                <a:sym typeface="Roboto"/>
              </a:rPr>
              <a:t>barriers for many citizens.</a:t>
            </a:r>
            <a:endParaRPr lang="en-US" sz="2899" dirty="0">
              <a:solidFill>
                <a:srgbClr val="5B694E"/>
              </a:solidFill>
              <a:latin typeface="Palatino Linotype" pitchFamily="18" charset="0"/>
              <a:ea typeface="Roboto"/>
              <a:cs typeface="Roboto"/>
              <a:sym typeface="Roboto"/>
            </a:endParaRPr>
          </a:p>
          <a:p>
            <a:pPr algn="ctr">
              <a:lnSpc>
                <a:spcPts val="4059"/>
              </a:lnSpc>
            </a:pPr>
            <a:endParaRPr lang="en-US" sz="2899" dirty="0">
              <a:solidFill>
                <a:srgbClr val="5B694E"/>
              </a:solidFill>
              <a:latin typeface="Roboto"/>
              <a:ea typeface="Roboto"/>
              <a:cs typeface="Roboto"/>
              <a:sym typeface="Roboto"/>
            </a:endParaRPr>
          </a:p>
        </p:txBody>
      </p:sp>
      <p:sp>
        <p:nvSpPr>
          <p:cNvPr id="25" name="Freeform 25"/>
          <p:cNvSpPr/>
          <p:nvPr/>
        </p:nvSpPr>
        <p:spPr>
          <a:xfrm>
            <a:off x="432650" y="525175"/>
            <a:ext cx="1042825" cy="1109795"/>
          </a:xfrm>
          <a:custGeom>
            <a:avLst/>
            <a:gdLst/>
            <a:ahLst/>
            <a:cxnLst/>
            <a:rect l="l" t="t" r="r" b="b"/>
            <a:pathLst>
              <a:path w="1042825" h="1109795">
                <a:moveTo>
                  <a:pt x="0" y="0"/>
                </a:moveTo>
                <a:lnTo>
                  <a:pt x="1042825" y="0"/>
                </a:lnTo>
                <a:lnTo>
                  <a:pt x="1042825" y="1109796"/>
                </a:lnTo>
                <a:lnTo>
                  <a:pt x="0" y="1109796"/>
                </a:lnTo>
                <a:lnTo>
                  <a:pt x="0" y="0"/>
                </a:lnTo>
                <a:close/>
              </a:path>
            </a:pathLst>
          </a:custGeom>
          <a:blipFill>
            <a:blip r:embed="rId3"/>
            <a:stretch>
              <a:fillRect/>
            </a:stretch>
          </a:blipFill>
        </p:spPr>
      </p:sp>
      <p:sp>
        <p:nvSpPr>
          <p:cNvPr id="26" name="Freeform 26"/>
          <p:cNvSpPr/>
          <p:nvPr/>
        </p:nvSpPr>
        <p:spPr>
          <a:xfrm>
            <a:off x="1622953" y="525175"/>
            <a:ext cx="1399814" cy="1192193"/>
          </a:xfrm>
          <a:custGeom>
            <a:avLst/>
            <a:gdLst/>
            <a:ahLst/>
            <a:cxnLst/>
            <a:rect l="l" t="t" r="r" b="b"/>
            <a:pathLst>
              <a:path w="1399814" h="1192193">
                <a:moveTo>
                  <a:pt x="0" y="0"/>
                </a:moveTo>
                <a:lnTo>
                  <a:pt x="1399815" y="0"/>
                </a:lnTo>
                <a:lnTo>
                  <a:pt x="1399815" y="1192193"/>
                </a:lnTo>
                <a:lnTo>
                  <a:pt x="0" y="1192193"/>
                </a:lnTo>
                <a:lnTo>
                  <a:pt x="0" y="0"/>
                </a:lnTo>
                <a:close/>
              </a:path>
            </a:pathLst>
          </a:custGeom>
          <a:blipFill>
            <a:blip r:embed="rId4"/>
            <a:stretch>
              <a:fillRect l="-9405" t="-13167" r="-9405" b="-26334"/>
            </a:stretch>
          </a:blipFill>
        </p:spPr>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845" y="-7290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3710668" y="6011466"/>
            <a:ext cx="7421336" cy="6493669"/>
            <a:chOff x="0" y="0"/>
            <a:chExt cx="812800" cy="711200"/>
          </a:xfrm>
        </p:grpSpPr>
        <p:sp>
          <p:nvSpPr>
            <p:cNvPr id="4" name="Freeform 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5" name="TextBox 5"/>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5400000">
            <a:off x="2696678" y="9388858"/>
            <a:ext cx="2052896" cy="1796284"/>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8" name="TextBox 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4577332" y="-2218134"/>
            <a:ext cx="7421336" cy="6493669"/>
            <a:chOff x="0" y="0"/>
            <a:chExt cx="812800" cy="711200"/>
          </a:xfrm>
        </p:grpSpPr>
        <p:sp>
          <p:nvSpPr>
            <p:cNvPr id="10" name="Freeform 1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11" name="TextBox 11"/>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rot="5400000">
            <a:off x="14304978" y="-1794032"/>
            <a:ext cx="2052896" cy="3592568"/>
            <a:chOff x="0" y="0"/>
            <a:chExt cx="2737195" cy="4790090"/>
          </a:xfrm>
        </p:grpSpPr>
        <p:grpSp>
          <p:nvGrpSpPr>
            <p:cNvPr id="13" name="Group 13"/>
            <p:cNvGrpSpPr/>
            <p:nvPr/>
          </p:nvGrpSpPr>
          <p:grpSpPr>
            <a:xfrm>
              <a:off x="0" y="0"/>
              <a:ext cx="2737195" cy="2395045"/>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15" name="TextBox 15"/>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rot="-10800000">
              <a:off x="0" y="2395045"/>
              <a:ext cx="2737195" cy="2395045"/>
              <a:chOff x="0" y="0"/>
              <a:chExt cx="812800" cy="711200"/>
            </a:xfrm>
          </p:grpSpPr>
          <p:sp>
            <p:nvSpPr>
              <p:cNvPr id="17" name="Freeform 1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18" name="TextBox 1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grpSp>
        <p:nvGrpSpPr>
          <p:cNvPr id="19" name="Group 19"/>
          <p:cNvGrpSpPr/>
          <p:nvPr/>
        </p:nvGrpSpPr>
        <p:grpSpPr>
          <a:xfrm rot="-5400000">
            <a:off x="900394" y="9388858"/>
            <a:ext cx="2052896" cy="1796284"/>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21" name="TextBox 21"/>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22"/>
          <p:cNvSpPr txBox="1"/>
          <p:nvPr/>
        </p:nvSpPr>
        <p:spPr>
          <a:xfrm>
            <a:off x="16405423" y="9070175"/>
            <a:ext cx="853877" cy="643964"/>
          </a:xfrm>
          <a:prstGeom prst="rect">
            <a:avLst/>
          </a:prstGeom>
        </p:spPr>
        <p:txBody>
          <a:bodyPr lIns="0" tIns="0" rIns="0" bIns="0" rtlCol="0" anchor="t">
            <a:spAutoFit/>
          </a:bodyPr>
          <a:lstStyle/>
          <a:p>
            <a:pPr algn="ctr">
              <a:lnSpc>
                <a:spcPts val="5312"/>
              </a:lnSpc>
            </a:pPr>
            <a:r>
              <a:rPr lang="en-US" sz="3794">
                <a:solidFill>
                  <a:srgbClr val="545454"/>
                </a:solidFill>
                <a:latin typeface="Hussar Bold"/>
                <a:ea typeface="Hussar Bold"/>
                <a:cs typeface="Hussar Bold"/>
                <a:sym typeface="Hussar Bold"/>
              </a:rPr>
              <a:t>04</a:t>
            </a:r>
          </a:p>
        </p:txBody>
      </p:sp>
      <p:sp>
        <p:nvSpPr>
          <p:cNvPr id="23" name="TextBox 23"/>
          <p:cNvSpPr txBox="1"/>
          <p:nvPr/>
        </p:nvSpPr>
        <p:spPr>
          <a:xfrm>
            <a:off x="5254796" y="853769"/>
            <a:ext cx="7778408" cy="821700"/>
          </a:xfrm>
          <a:prstGeom prst="rect">
            <a:avLst/>
          </a:prstGeom>
        </p:spPr>
        <p:txBody>
          <a:bodyPr lIns="0" tIns="0" rIns="0" bIns="0" rtlCol="0" anchor="t">
            <a:spAutoFit/>
          </a:bodyPr>
          <a:lstStyle/>
          <a:p>
            <a:pPr algn="ctr">
              <a:lnSpc>
                <a:spcPts val="7000"/>
              </a:lnSpc>
            </a:pPr>
            <a:r>
              <a:rPr lang="en-US" sz="5000" b="1" dirty="0">
                <a:solidFill>
                  <a:srgbClr val="545454"/>
                </a:solidFill>
                <a:latin typeface="Georgia" pitchFamily="18" charset="0"/>
                <a:ea typeface="Hussar Bold"/>
                <a:cs typeface="Hussar Bold"/>
                <a:sym typeface="Hussar Bold"/>
              </a:rPr>
              <a:t>PROPOSED SOLUTION</a:t>
            </a:r>
          </a:p>
        </p:txBody>
      </p:sp>
      <p:sp>
        <p:nvSpPr>
          <p:cNvPr id="24" name="TextBox 24"/>
          <p:cNvSpPr txBox="1"/>
          <p:nvPr/>
        </p:nvSpPr>
        <p:spPr>
          <a:xfrm>
            <a:off x="3382863" y="2335318"/>
            <a:ext cx="11522275" cy="6309420"/>
          </a:xfrm>
          <a:prstGeom prst="rect">
            <a:avLst/>
          </a:prstGeom>
        </p:spPr>
        <p:txBody>
          <a:bodyPr lIns="0" tIns="0" rIns="0" bIns="0" rtlCol="0" anchor="t">
            <a:spAutoFit/>
          </a:bodyPr>
          <a:lstStyle/>
          <a:p>
            <a:pPr algn="just">
              <a:lnSpc>
                <a:spcPts val="4059"/>
              </a:lnSpc>
            </a:pPr>
            <a:r>
              <a:rPr lang="en-US" sz="2899" dirty="0">
                <a:solidFill>
                  <a:srgbClr val="5B694E"/>
                </a:solidFill>
                <a:latin typeface="Palatino Linotype" pitchFamily="18" charset="0"/>
                <a:ea typeface="Roboto"/>
                <a:cs typeface="Roboto"/>
                <a:sym typeface="Roboto"/>
              </a:rPr>
              <a:t>The Autonomous Scheme Navigator is an AI-based system that collects user details (age, income, occupation, location) and automatically recommends suitable government welfare schemes in one platform</a:t>
            </a:r>
            <a:r>
              <a:rPr lang="en-US" sz="2899" dirty="0" smtClean="0">
                <a:solidFill>
                  <a:srgbClr val="5B694E"/>
                </a:solidFill>
                <a:latin typeface="Palatino Linotype" pitchFamily="18" charset="0"/>
                <a:ea typeface="Roboto"/>
                <a:cs typeface="Roboto"/>
                <a:sym typeface="Roboto"/>
              </a:rPr>
              <a:t>. </a:t>
            </a:r>
          </a:p>
          <a:p>
            <a:pPr>
              <a:lnSpc>
                <a:spcPts val="4059"/>
              </a:lnSpc>
            </a:pPr>
            <a:r>
              <a:rPr lang="en-US" sz="2899" b="1" dirty="0" smtClean="0">
                <a:solidFill>
                  <a:srgbClr val="5B694E"/>
                </a:solidFill>
                <a:latin typeface="Perpetua Titling MT" pitchFamily="18" charset="0"/>
                <a:ea typeface="Roboto"/>
                <a:cs typeface="Roboto"/>
                <a:sym typeface="Roboto"/>
              </a:rPr>
              <a:t>How </a:t>
            </a:r>
            <a:r>
              <a:rPr lang="en-US" sz="2899" b="1" dirty="0">
                <a:solidFill>
                  <a:srgbClr val="5B694E"/>
                </a:solidFill>
                <a:latin typeface="Perpetua Titling MT" pitchFamily="18" charset="0"/>
                <a:ea typeface="Roboto"/>
                <a:cs typeface="Roboto"/>
                <a:sym typeface="Roboto"/>
              </a:rPr>
              <a:t>It Improves Existing Solutions</a:t>
            </a:r>
            <a:r>
              <a:rPr lang="en-US" sz="2899" dirty="0" smtClean="0">
                <a:solidFill>
                  <a:srgbClr val="5B694E"/>
                </a:solidFill>
                <a:latin typeface="Roboto"/>
                <a:ea typeface="Roboto"/>
                <a:cs typeface="Roboto"/>
                <a:sym typeface="Roboto"/>
              </a:rPr>
              <a:t>:</a:t>
            </a:r>
          </a:p>
          <a:p>
            <a:pPr marL="457200" indent="-457200" algn="just">
              <a:lnSpc>
                <a:spcPts val="4059"/>
              </a:lnSpc>
              <a:buFont typeface="Wingdings" pitchFamily="2" charset="2"/>
              <a:buChar char="q"/>
            </a:pPr>
            <a:r>
              <a:rPr lang="en-US" sz="2899" dirty="0" smtClean="0">
                <a:solidFill>
                  <a:srgbClr val="5B694E"/>
                </a:solidFill>
                <a:latin typeface="Palatino Linotype" pitchFamily="18" charset="0"/>
                <a:ea typeface="Roboto"/>
                <a:cs typeface="Roboto"/>
                <a:sym typeface="Roboto"/>
              </a:rPr>
              <a:t> Provides </a:t>
            </a:r>
            <a:r>
              <a:rPr lang="en-US" sz="2899" dirty="0">
                <a:solidFill>
                  <a:srgbClr val="5B694E"/>
                </a:solidFill>
                <a:latin typeface="Palatino Linotype" pitchFamily="18" charset="0"/>
                <a:ea typeface="Roboto"/>
                <a:cs typeface="Roboto"/>
                <a:sym typeface="Roboto"/>
              </a:rPr>
              <a:t>automatic smart recommendations instead of manual searching</a:t>
            </a:r>
            <a:r>
              <a:rPr lang="en-US" sz="2899" dirty="0" smtClean="0">
                <a:solidFill>
                  <a:srgbClr val="5B694E"/>
                </a:solidFill>
                <a:latin typeface="Palatino Linotype" pitchFamily="18" charset="0"/>
                <a:ea typeface="Roboto"/>
                <a:cs typeface="Roboto"/>
                <a:sym typeface="Roboto"/>
              </a:rPr>
              <a:t>. </a:t>
            </a:r>
          </a:p>
          <a:p>
            <a:pPr marL="457200" indent="-457200" algn="just">
              <a:lnSpc>
                <a:spcPts val="4059"/>
              </a:lnSpc>
              <a:buFont typeface="Wingdings" pitchFamily="2" charset="2"/>
              <a:buChar char="q"/>
            </a:pPr>
            <a:r>
              <a:rPr lang="en-US" sz="2899" dirty="0" smtClean="0">
                <a:solidFill>
                  <a:srgbClr val="5B694E"/>
                </a:solidFill>
                <a:latin typeface="Palatino Linotype" pitchFamily="18" charset="0"/>
                <a:ea typeface="Roboto"/>
                <a:cs typeface="Roboto"/>
                <a:sym typeface="Roboto"/>
              </a:rPr>
              <a:t>Simple </a:t>
            </a:r>
            <a:r>
              <a:rPr lang="en-US" sz="2899" dirty="0">
                <a:solidFill>
                  <a:srgbClr val="5B694E"/>
                </a:solidFill>
                <a:latin typeface="Palatino Linotype" pitchFamily="18" charset="0"/>
                <a:ea typeface="Roboto"/>
                <a:cs typeface="Roboto"/>
                <a:sym typeface="Roboto"/>
              </a:rPr>
              <a:t>and user-friendly interface for all </a:t>
            </a:r>
            <a:r>
              <a:rPr lang="en-US" sz="2899" dirty="0" smtClean="0">
                <a:solidFill>
                  <a:srgbClr val="5B694E"/>
                </a:solidFill>
                <a:latin typeface="Palatino Linotype" pitchFamily="18" charset="0"/>
                <a:ea typeface="Roboto"/>
                <a:cs typeface="Roboto"/>
                <a:sym typeface="Roboto"/>
              </a:rPr>
              <a:t>citizens . </a:t>
            </a:r>
          </a:p>
          <a:p>
            <a:pPr marL="457200" indent="-457200" algn="just">
              <a:lnSpc>
                <a:spcPts val="4059"/>
              </a:lnSpc>
              <a:buFont typeface="Wingdings" pitchFamily="2" charset="2"/>
              <a:buChar char="q"/>
            </a:pPr>
            <a:r>
              <a:rPr lang="en-US" sz="2899" dirty="0" smtClean="0">
                <a:solidFill>
                  <a:srgbClr val="5B694E"/>
                </a:solidFill>
                <a:latin typeface="Palatino Linotype" pitchFamily="18" charset="0"/>
                <a:ea typeface="Roboto"/>
                <a:cs typeface="Roboto"/>
                <a:sym typeface="Roboto"/>
              </a:rPr>
              <a:t>All </a:t>
            </a:r>
            <a:r>
              <a:rPr lang="en-US" sz="2899" dirty="0">
                <a:solidFill>
                  <a:srgbClr val="5B694E"/>
                </a:solidFill>
                <a:latin typeface="Palatino Linotype" pitchFamily="18" charset="0"/>
                <a:ea typeface="Roboto"/>
                <a:cs typeface="Roboto"/>
                <a:sym typeface="Roboto"/>
              </a:rPr>
              <a:t>scheme information in one place</a:t>
            </a:r>
            <a:r>
              <a:rPr lang="en-US" sz="2899" dirty="0" smtClean="0">
                <a:solidFill>
                  <a:srgbClr val="5B694E"/>
                </a:solidFill>
                <a:latin typeface="Palatino Linotype" pitchFamily="18" charset="0"/>
                <a:ea typeface="Roboto"/>
                <a:cs typeface="Roboto"/>
                <a:sym typeface="Roboto"/>
              </a:rPr>
              <a:t>.</a:t>
            </a:r>
          </a:p>
          <a:p>
            <a:pPr marL="457200" indent="-457200" algn="just">
              <a:lnSpc>
                <a:spcPts val="4059"/>
              </a:lnSpc>
              <a:buFont typeface="Wingdings" pitchFamily="2" charset="2"/>
              <a:buChar char="q"/>
            </a:pPr>
            <a:r>
              <a:rPr lang="en-US" sz="2899" dirty="0">
                <a:solidFill>
                  <a:srgbClr val="5B694E"/>
                </a:solidFill>
                <a:latin typeface="Palatino Linotype" pitchFamily="18" charset="0"/>
                <a:ea typeface="Roboto"/>
                <a:cs typeface="Roboto"/>
                <a:sym typeface="Roboto"/>
              </a:rPr>
              <a:t> </a:t>
            </a:r>
            <a:r>
              <a:rPr lang="en-US" sz="2899" dirty="0" smtClean="0">
                <a:solidFill>
                  <a:srgbClr val="5B694E"/>
                </a:solidFill>
                <a:latin typeface="Palatino Linotype" pitchFamily="18" charset="0"/>
                <a:ea typeface="Roboto"/>
                <a:cs typeface="Roboto"/>
                <a:sym typeface="Roboto"/>
              </a:rPr>
              <a:t>Supports </a:t>
            </a:r>
            <a:r>
              <a:rPr lang="en-US" sz="2899" dirty="0">
                <a:solidFill>
                  <a:srgbClr val="5B694E"/>
                </a:solidFill>
                <a:latin typeface="Palatino Linotype" pitchFamily="18" charset="0"/>
                <a:ea typeface="Roboto"/>
                <a:cs typeface="Roboto"/>
                <a:sym typeface="Roboto"/>
              </a:rPr>
              <a:t>multiple languages for better accessibility</a:t>
            </a:r>
            <a:r>
              <a:rPr lang="en-US" sz="2899" dirty="0" smtClean="0">
                <a:solidFill>
                  <a:srgbClr val="5B694E"/>
                </a:solidFill>
                <a:latin typeface="Palatino Linotype" pitchFamily="18" charset="0"/>
                <a:ea typeface="Roboto"/>
                <a:cs typeface="Roboto"/>
                <a:sym typeface="Roboto"/>
              </a:rPr>
              <a:t>.</a:t>
            </a:r>
          </a:p>
          <a:p>
            <a:pPr marL="457200" indent="-457200" algn="just">
              <a:lnSpc>
                <a:spcPts val="4059"/>
              </a:lnSpc>
              <a:buFont typeface="Wingdings" pitchFamily="2" charset="2"/>
              <a:buChar char="q"/>
            </a:pPr>
            <a:r>
              <a:rPr lang="en-US" sz="2899" dirty="0" smtClean="0">
                <a:solidFill>
                  <a:srgbClr val="5B694E"/>
                </a:solidFill>
                <a:latin typeface="Palatino Linotype" pitchFamily="18" charset="0"/>
                <a:ea typeface="Roboto"/>
                <a:cs typeface="Roboto"/>
                <a:sym typeface="Roboto"/>
              </a:rPr>
              <a:t>It </a:t>
            </a:r>
            <a:r>
              <a:rPr lang="en-US" sz="2899" dirty="0">
                <a:solidFill>
                  <a:srgbClr val="5B694E"/>
                </a:solidFill>
                <a:latin typeface="Palatino Linotype" pitchFamily="18" charset="0"/>
                <a:ea typeface="Roboto"/>
                <a:cs typeface="Roboto"/>
                <a:sym typeface="Roboto"/>
              </a:rPr>
              <a:t>improves platforms like </a:t>
            </a:r>
            <a:r>
              <a:rPr lang="en-US" sz="2899" dirty="0" err="1" smtClean="0">
                <a:solidFill>
                  <a:srgbClr val="5B694E"/>
                </a:solidFill>
                <a:latin typeface="Palatino Linotype" pitchFamily="18" charset="0"/>
                <a:ea typeface="Roboto"/>
                <a:cs typeface="Roboto"/>
                <a:sym typeface="Roboto"/>
              </a:rPr>
              <a:t>myScheme</a:t>
            </a:r>
            <a:r>
              <a:rPr lang="en-US" sz="2899" dirty="0" smtClean="0">
                <a:solidFill>
                  <a:srgbClr val="5B694E"/>
                </a:solidFill>
                <a:latin typeface="Palatino Linotype" pitchFamily="18" charset="0"/>
                <a:ea typeface="Roboto"/>
                <a:cs typeface="Roboto"/>
                <a:sym typeface="Roboto"/>
              </a:rPr>
              <a:t> </a:t>
            </a:r>
            <a:r>
              <a:rPr lang="en-US" sz="2899" dirty="0">
                <a:solidFill>
                  <a:srgbClr val="5B694E"/>
                </a:solidFill>
                <a:latin typeface="Palatino Linotype" pitchFamily="18" charset="0"/>
                <a:ea typeface="Roboto"/>
                <a:cs typeface="Roboto"/>
                <a:sym typeface="Roboto"/>
              </a:rPr>
              <a:t>Portal created by the Government of India by making scheme discovery faster and easier.</a:t>
            </a:r>
            <a:endParaRPr lang="en-US" sz="2899" dirty="0">
              <a:solidFill>
                <a:srgbClr val="5B694E"/>
              </a:solidFill>
              <a:latin typeface="Palatino Linotype" pitchFamily="18" charset="0"/>
              <a:ea typeface="Roboto"/>
              <a:cs typeface="Roboto"/>
              <a:sym typeface="Roboto"/>
            </a:endParaRPr>
          </a:p>
        </p:txBody>
      </p:sp>
      <p:sp>
        <p:nvSpPr>
          <p:cNvPr id="25" name="Freeform 25"/>
          <p:cNvSpPr/>
          <p:nvPr/>
        </p:nvSpPr>
        <p:spPr>
          <a:xfrm>
            <a:off x="432650" y="525175"/>
            <a:ext cx="1042825" cy="1109795"/>
          </a:xfrm>
          <a:custGeom>
            <a:avLst/>
            <a:gdLst/>
            <a:ahLst/>
            <a:cxnLst/>
            <a:rect l="l" t="t" r="r" b="b"/>
            <a:pathLst>
              <a:path w="1042825" h="1109795">
                <a:moveTo>
                  <a:pt x="0" y="0"/>
                </a:moveTo>
                <a:lnTo>
                  <a:pt x="1042825" y="0"/>
                </a:lnTo>
                <a:lnTo>
                  <a:pt x="1042825" y="1109796"/>
                </a:lnTo>
                <a:lnTo>
                  <a:pt x="0" y="1109796"/>
                </a:lnTo>
                <a:lnTo>
                  <a:pt x="0" y="0"/>
                </a:lnTo>
                <a:close/>
              </a:path>
            </a:pathLst>
          </a:custGeom>
          <a:blipFill>
            <a:blip r:embed="rId3"/>
            <a:stretch>
              <a:fillRect/>
            </a:stretch>
          </a:blipFill>
        </p:spPr>
      </p:sp>
      <p:sp>
        <p:nvSpPr>
          <p:cNvPr id="26" name="Freeform 26"/>
          <p:cNvSpPr/>
          <p:nvPr/>
        </p:nvSpPr>
        <p:spPr>
          <a:xfrm>
            <a:off x="1622953" y="525175"/>
            <a:ext cx="1399814" cy="1192193"/>
          </a:xfrm>
          <a:custGeom>
            <a:avLst/>
            <a:gdLst/>
            <a:ahLst/>
            <a:cxnLst/>
            <a:rect l="l" t="t" r="r" b="b"/>
            <a:pathLst>
              <a:path w="1399814" h="1192193">
                <a:moveTo>
                  <a:pt x="0" y="0"/>
                </a:moveTo>
                <a:lnTo>
                  <a:pt x="1399815" y="0"/>
                </a:lnTo>
                <a:lnTo>
                  <a:pt x="1399815" y="1192193"/>
                </a:lnTo>
                <a:lnTo>
                  <a:pt x="0" y="1192193"/>
                </a:lnTo>
                <a:lnTo>
                  <a:pt x="0" y="0"/>
                </a:lnTo>
                <a:close/>
              </a:path>
            </a:pathLst>
          </a:custGeom>
          <a:blipFill>
            <a:blip r:embed="rId4"/>
            <a:stretch>
              <a:fillRect l="-9405" t="-13167" r="-9405" b="-26334"/>
            </a:stretch>
          </a:blipFill>
        </p:spPr>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25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3710668" y="6011466"/>
            <a:ext cx="7421336" cy="6493669"/>
            <a:chOff x="0" y="0"/>
            <a:chExt cx="812800" cy="711200"/>
          </a:xfrm>
        </p:grpSpPr>
        <p:sp>
          <p:nvSpPr>
            <p:cNvPr id="4" name="Freeform 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5" name="TextBox 5"/>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5400000">
            <a:off x="2696678" y="9388858"/>
            <a:ext cx="2052896" cy="1796284"/>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8" name="TextBox 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4577332" y="-2218134"/>
            <a:ext cx="7421336" cy="6493669"/>
            <a:chOff x="0" y="0"/>
            <a:chExt cx="812800" cy="711200"/>
          </a:xfrm>
        </p:grpSpPr>
        <p:sp>
          <p:nvSpPr>
            <p:cNvPr id="10" name="Freeform 1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11" name="TextBox 11"/>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rot="5400000">
            <a:off x="14304978" y="-1794032"/>
            <a:ext cx="2052896" cy="3592568"/>
            <a:chOff x="0" y="0"/>
            <a:chExt cx="2737195" cy="4790090"/>
          </a:xfrm>
        </p:grpSpPr>
        <p:grpSp>
          <p:nvGrpSpPr>
            <p:cNvPr id="13" name="Group 13"/>
            <p:cNvGrpSpPr/>
            <p:nvPr/>
          </p:nvGrpSpPr>
          <p:grpSpPr>
            <a:xfrm>
              <a:off x="0" y="0"/>
              <a:ext cx="2737195" cy="2395045"/>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15" name="TextBox 15"/>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rot="-10800000">
              <a:off x="0" y="2395045"/>
              <a:ext cx="2737195" cy="2395045"/>
              <a:chOff x="0" y="0"/>
              <a:chExt cx="812800" cy="711200"/>
            </a:xfrm>
          </p:grpSpPr>
          <p:sp>
            <p:nvSpPr>
              <p:cNvPr id="17" name="Freeform 1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18" name="TextBox 1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grpSp>
        <p:nvGrpSpPr>
          <p:cNvPr id="19" name="Group 19"/>
          <p:cNvGrpSpPr/>
          <p:nvPr/>
        </p:nvGrpSpPr>
        <p:grpSpPr>
          <a:xfrm rot="-5400000">
            <a:off x="900394" y="9388858"/>
            <a:ext cx="2052896" cy="1796284"/>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21" name="TextBox 21"/>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22"/>
          <p:cNvSpPr txBox="1"/>
          <p:nvPr/>
        </p:nvSpPr>
        <p:spPr>
          <a:xfrm>
            <a:off x="16405423" y="9070175"/>
            <a:ext cx="853877" cy="643964"/>
          </a:xfrm>
          <a:prstGeom prst="rect">
            <a:avLst/>
          </a:prstGeom>
        </p:spPr>
        <p:txBody>
          <a:bodyPr lIns="0" tIns="0" rIns="0" bIns="0" rtlCol="0" anchor="t">
            <a:spAutoFit/>
          </a:bodyPr>
          <a:lstStyle/>
          <a:p>
            <a:pPr algn="ctr">
              <a:lnSpc>
                <a:spcPts val="5312"/>
              </a:lnSpc>
            </a:pPr>
            <a:r>
              <a:rPr lang="en-US" sz="3794">
                <a:solidFill>
                  <a:srgbClr val="545454"/>
                </a:solidFill>
                <a:latin typeface="Hussar Bold"/>
                <a:ea typeface="Hussar Bold"/>
                <a:cs typeface="Hussar Bold"/>
                <a:sym typeface="Hussar Bold"/>
              </a:rPr>
              <a:t>05</a:t>
            </a:r>
          </a:p>
        </p:txBody>
      </p:sp>
      <p:sp>
        <p:nvSpPr>
          <p:cNvPr id="23" name="TextBox 23"/>
          <p:cNvSpPr txBox="1"/>
          <p:nvPr/>
        </p:nvSpPr>
        <p:spPr>
          <a:xfrm>
            <a:off x="5603904" y="853769"/>
            <a:ext cx="7080192" cy="821700"/>
          </a:xfrm>
          <a:prstGeom prst="rect">
            <a:avLst/>
          </a:prstGeom>
        </p:spPr>
        <p:txBody>
          <a:bodyPr lIns="0" tIns="0" rIns="0" bIns="0" rtlCol="0" anchor="t">
            <a:spAutoFit/>
          </a:bodyPr>
          <a:lstStyle/>
          <a:p>
            <a:pPr algn="ctr">
              <a:lnSpc>
                <a:spcPts val="7000"/>
              </a:lnSpc>
            </a:pPr>
            <a:r>
              <a:rPr lang="en-US" sz="5000" b="1" dirty="0">
                <a:solidFill>
                  <a:srgbClr val="545454"/>
                </a:solidFill>
                <a:latin typeface="Georgia" pitchFamily="18" charset="0"/>
                <a:ea typeface="Hussar Bold"/>
                <a:cs typeface="Hussar Bold"/>
                <a:sym typeface="Hussar Bold"/>
              </a:rPr>
              <a:t>MARKET ANALYSIS</a:t>
            </a:r>
          </a:p>
        </p:txBody>
      </p:sp>
      <p:sp>
        <p:nvSpPr>
          <p:cNvPr id="24" name="TextBox 24"/>
          <p:cNvSpPr txBox="1"/>
          <p:nvPr/>
        </p:nvSpPr>
        <p:spPr>
          <a:xfrm>
            <a:off x="3418399" y="2373870"/>
            <a:ext cx="11522275" cy="6309420"/>
          </a:xfrm>
          <a:prstGeom prst="rect">
            <a:avLst/>
          </a:prstGeom>
        </p:spPr>
        <p:txBody>
          <a:bodyPr lIns="0" tIns="0" rIns="0" bIns="0" rtlCol="0" anchor="t">
            <a:spAutoFit/>
          </a:bodyPr>
          <a:lstStyle/>
          <a:p>
            <a:pPr marL="770253" lvl="1" indent="-457200">
              <a:lnSpc>
                <a:spcPts val="4059"/>
              </a:lnSpc>
              <a:buFont typeface="Wingdings" pitchFamily="2" charset="2"/>
              <a:buChar char="v"/>
            </a:pPr>
            <a:r>
              <a:rPr lang="en-US" sz="2899" b="1" dirty="0">
                <a:solidFill>
                  <a:srgbClr val="5B694E"/>
                </a:solidFill>
                <a:latin typeface="Perpetua Titling MT" pitchFamily="18" charset="0"/>
                <a:ea typeface="Roboto"/>
                <a:cs typeface="Roboto"/>
                <a:sym typeface="Roboto"/>
              </a:rPr>
              <a:t>Target Users</a:t>
            </a:r>
            <a:r>
              <a:rPr lang="en-US" sz="2899" dirty="0" smtClean="0">
                <a:solidFill>
                  <a:srgbClr val="5B694E"/>
                </a:solidFill>
                <a:latin typeface="Roboto"/>
                <a:ea typeface="Roboto"/>
                <a:cs typeface="Roboto"/>
                <a:sym typeface="Roboto"/>
              </a:rPr>
              <a:t>: </a:t>
            </a:r>
          </a:p>
          <a:p>
            <a:pPr marL="313053" lvl="1">
              <a:lnSpc>
                <a:spcPts val="4059"/>
              </a:lnSpc>
            </a:pPr>
            <a:r>
              <a:rPr lang="en-US" sz="2899" dirty="0" smtClean="0">
                <a:solidFill>
                  <a:srgbClr val="5B694E"/>
                </a:solidFill>
                <a:latin typeface="Palatino Linotype" pitchFamily="18" charset="0"/>
                <a:ea typeface="Roboto"/>
                <a:cs typeface="Roboto"/>
                <a:sym typeface="Roboto"/>
              </a:rPr>
              <a:t>Citizens </a:t>
            </a:r>
            <a:r>
              <a:rPr lang="en-US" sz="2899" dirty="0">
                <a:solidFill>
                  <a:srgbClr val="5B694E"/>
                </a:solidFill>
                <a:latin typeface="Palatino Linotype" pitchFamily="18" charset="0"/>
                <a:ea typeface="Roboto"/>
                <a:cs typeface="Roboto"/>
                <a:sym typeface="Roboto"/>
              </a:rPr>
              <a:t>(students, farmers, low-income families, senior citizens), NGOs, and government departments</a:t>
            </a:r>
            <a:r>
              <a:rPr lang="en-US" sz="2899" dirty="0" smtClean="0">
                <a:solidFill>
                  <a:srgbClr val="5B694E"/>
                </a:solidFill>
                <a:latin typeface="Palatino Linotype" pitchFamily="18" charset="0"/>
                <a:ea typeface="Roboto"/>
                <a:cs typeface="Roboto"/>
                <a:sym typeface="Roboto"/>
              </a:rPr>
              <a:t>. </a:t>
            </a:r>
          </a:p>
          <a:p>
            <a:pPr marL="770253" lvl="1" indent="-457200">
              <a:lnSpc>
                <a:spcPts val="4059"/>
              </a:lnSpc>
              <a:buFont typeface="Wingdings" pitchFamily="2" charset="2"/>
              <a:buChar char="v"/>
            </a:pPr>
            <a:r>
              <a:rPr lang="en-US" sz="2899" b="1" dirty="0" smtClean="0">
                <a:solidFill>
                  <a:srgbClr val="5B694E"/>
                </a:solidFill>
                <a:latin typeface="Perpetua Titling MT" pitchFamily="18" charset="0"/>
                <a:ea typeface="Roboto"/>
                <a:cs typeface="Roboto"/>
                <a:sym typeface="Roboto"/>
              </a:rPr>
              <a:t>Market </a:t>
            </a:r>
            <a:r>
              <a:rPr lang="en-US" sz="2899" b="1" dirty="0">
                <a:solidFill>
                  <a:srgbClr val="5B694E"/>
                </a:solidFill>
                <a:latin typeface="Perpetua Titling MT" pitchFamily="18" charset="0"/>
                <a:ea typeface="Roboto"/>
                <a:cs typeface="Roboto"/>
                <a:sym typeface="Roboto"/>
              </a:rPr>
              <a:t>Demand</a:t>
            </a:r>
            <a:r>
              <a:rPr lang="en-US" sz="2899" dirty="0" smtClean="0">
                <a:solidFill>
                  <a:srgbClr val="5B694E"/>
                </a:solidFill>
                <a:latin typeface="Roboto"/>
                <a:ea typeface="Roboto"/>
                <a:cs typeface="Roboto"/>
                <a:sym typeface="Roboto"/>
              </a:rPr>
              <a:t>:  </a:t>
            </a:r>
          </a:p>
          <a:p>
            <a:pPr marL="313053" lvl="1">
              <a:lnSpc>
                <a:spcPts val="4059"/>
              </a:lnSpc>
            </a:pPr>
            <a:r>
              <a:rPr lang="en-US" sz="2899" dirty="0" smtClean="0">
                <a:solidFill>
                  <a:srgbClr val="5B694E"/>
                </a:solidFill>
                <a:latin typeface="Palatino Linotype" pitchFamily="18" charset="0"/>
                <a:ea typeface="Roboto"/>
                <a:cs typeface="Roboto"/>
                <a:sym typeface="Roboto"/>
              </a:rPr>
              <a:t>Many </a:t>
            </a:r>
            <a:r>
              <a:rPr lang="en-US" sz="2899" dirty="0">
                <a:solidFill>
                  <a:srgbClr val="5B694E"/>
                </a:solidFill>
                <a:latin typeface="Palatino Linotype" pitchFamily="18" charset="0"/>
                <a:ea typeface="Roboto"/>
                <a:cs typeface="Roboto"/>
                <a:sym typeface="Roboto"/>
              </a:rPr>
              <a:t>people cannot easily find or understand government welfare schemes, creating a strong need for a simple digital solution</a:t>
            </a:r>
            <a:r>
              <a:rPr lang="en-US" sz="2899" dirty="0" smtClean="0">
                <a:solidFill>
                  <a:srgbClr val="5B694E"/>
                </a:solidFill>
                <a:latin typeface="Palatino Linotype" pitchFamily="18" charset="0"/>
                <a:ea typeface="Roboto"/>
                <a:cs typeface="Roboto"/>
                <a:sym typeface="Roboto"/>
              </a:rPr>
              <a:t>. </a:t>
            </a:r>
          </a:p>
          <a:p>
            <a:pPr marL="770253" lvl="1" indent="-457200">
              <a:lnSpc>
                <a:spcPts val="4059"/>
              </a:lnSpc>
              <a:buFont typeface="Wingdings" pitchFamily="2" charset="2"/>
              <a:buChar char="v"/>
            </a:pPr>
            <a:r>
              <a:rPr lang="en-US" sz="2899" b="1" dirty="0" smtClean="0">
                <a:solidFill>
                  <a:srgbClr val="5B694E"/>
                </a:solidFill>
                <a:latin typeface="Perpetua Titling MT" pitchFamily="18" charset="0"/>
                <a:ea typeface="Roboto"/>
                <a:cs typeface="Roboto"/>
                <a:sym typeface="Roboto"/>
              </a:rPr>
              <a:t>Competitors:</a:t>
            </a:r>
            <a:r>
              <a:rPr lang="en-US" sz="2899" dirty="0" smtClean="0">
                <a:solidFill>
                  <a:srgbClr val="5B694E"/>
                </a:solidFill>
                <a:latin typeface="Roboto"/>
                <a:ea typeface="Roboto"/>
                <a:cs typeface="Roboto"/>
                <a:sym typeface="Roboto"/>
              </a:rPr>
              <a:t> </a:t>
            </a:r>
          </a:p>
          <a:p>
            <a:pPr marL="313053" lvl="1">
              <a:lnSpc>
                <a:spcPts val="4059"/>
              </a:lnSpc>
            </a:pPr>
            <a:r>
              <a:rPr lang="en-US" sz="2899" dirty="0" smtClean="0">
                <a:solidFill>
                  <a:srgbClr val="5B694E"/>
                </a:solidFill>
                <a:latin typeface="Palatino Linotype" pitchFamily="18" charset="0"/>
                <a:ea typeface="OpenSymbol" pitchFamily="2" charset="2"/>
                <a:cs typeface="Roboto"/>
                <a:sym typeface="Roboto"/>
              </a:rPr>
              <a:t>Platforms </a:t>
            </a:r>
            <a:r>
              <a:rPr lang="en-US" sz="2899" dirty="0">
                <a:solidFill>
                  <a:srgbClr val="5B694E"/>
                </a:solidFill>
                <a:latin typeface="Palatino Linotype" pitchFamily="18" charset="0"/>
                <a:ea typeface="OpenSymbol" pitchFamily="2" charset="2"/>
                <a:cs typeface="Roboto"/>
                <a:sym typeface="Roboto"/>
              </a:rPr>
              <a:t>like </a:t>
            </a:r>
            <a:r>
              <a:rPr lang="en-US" sz="2899" dirty="0" err="1" smtClean="0">
                <a:solidFill>
                  <a:srgbClr val="5B694E"/>
                </a:solidFill>
                <a:latin typeface="Palatino Linotype" pitchFamily="18" charset="0"/>
                <a:ea typeface="OpenSymbol" pitchFamily="2" charset="2"/>
                <a:cs typeface="Roboto"/>
                <a:sym typeface="Roboto"/>
              </a:rPr>
              <a:t>myScheme</a:t>
            </a:r>
            <a:r>
              <a:rPr lang="en-US" sz="2899" dirty="0" smtClean="0">
                <a:solidFill>
                  <a:srgbClr val="5B694E"/>
                </a:solidFill>
                <a:latin typeface="Palatino Linotype" pitchFamily="18" charset="0"/>
                <a:ea typeface="OpenSymbol" pitchFamily="2" charset="2"/>
                <a:cs typeface="Roboto"/>
                <a:sym typeface="Roboto"/>
              </a:rPr>
              <a:t> </a:t>
            </a:r>
            <a:r>
              <a:rPr lang="en-US" sz="2899" dirty="0">
                <a:solidFill>
                  <a:srgbClr val="5B694E"/>
                </a:solidFill>
                <a:latin typeface="Palatino Linotype" pitchFamily="18" charset="0"/>
                <a:ea typeface="OpenSymbol" pitchFamily="2" charset="2"/>
                <a:cs typeface="Roboto"/>
                <a:sym typeface="Roboto"/>
              </a:rPr>
              <a:t>Portal and UMANG provide scheme information</a:t>
            </a:r>
            <a:r>
              <a:rPr lang="en-US" sz="2899" dirty="0" smtClean="0">
                <a:solidFill>
                  <a:srgbClr val="5B694E"/>
                </a:solidFill>
                <a:latin typeface="Roboto"/>
                <a:ea typeface="Roboto"/>
                <a:cs typeface="Roboto"/>
                <a:sym typeface="Roboto"/>
              </a:rPr>
              <a:t>. </a:t>
            </a:r>
          </a:p>
          <a:p>
            <a:pPr marL="770253" lvl="1" indent="-457200">
              <a:lnSpc>
                <a:spcPts val="4059"/>
              </a:lnSpc>
              <a:buFont typeface="Wingdings" pitchFamily="2" charset="2"/>
              <a:buChar char="v"/>
            </a:pPr>
            <a:r>
              <a:rPr lang="en-US" sz="2899" b="1" dirty="0" smtClean="0">
                <a:solidFill>
                  <a:srgbClr val="5B694E"/>
                </a:solidFill>
                <a:latin typeface="Perpetua Titling MT" pitchFamily="18" charset="0"/>
                <a:ea typeface="Roboto"/>
                <a:cs typeface="Roboto"/>
                <a:sym typeface="Roboto"/>
              </a:rPr>
              <a:t>Opportunities: </a:t>
            </a:r>
          </a:p>
          <a:p>
            <a:pPr marL="313053" lvl="1">
              <a:lnSpc>
                <a:spcPts val="4059"/>
              </a:lnSpc>
            </a:pPr>
            <a:r>
              <a:rPr lang="en-US" sz="2899" dirty="0" smtClean="0">
                <a:solidFill>
                  <a:srgbClr val="5B694E"/>
                </a:solidFill>
                <a:latin typeface="Palatino Linotype" pitchFamily="18" charset="0"/>
                <a:ea typeface="Roboto"/>
                <a:cs typeface="Roboto"/>
                <a:sym typeface="Roboto"/>
              </a:rPr>
              <a:t>Using </a:t>
            </a:r>
            <a:r>
              <a:rPr lang="en-US" sz="2899" dirty="0">
                <a:solidFill>
                  <a:srgbClr val="5B694E"/>
                </a:solidFill>
                <a:latin typeface="Palatino Linotype" pitchFamily="18" charset="0"/>
                <a:ea typeface="Roboto"/>
                <a:cs typeface="Roboto"/>
                <a:sym typeface="Roboto"/>
              </a:rPr>
              <a:t>AI, multilingual support, and a simple interface to help citizens quickly find and apply for the schemes they are eligible for.</a:t>
            </a:r>
            <a:endParaRPr lang="en-US" sz="2899" dirty="0">
              <a:solidFill>
                <a:srgbClr val="5B694E"/>
              </a:solidFill>
              <a:latin typeface="Palatino Linotype" pitchFamily="18" charset="0"/>
              <a:ea typeface="Roboto"/>
              <a:cs typeface="Roboto"/>
              <a:sym typeface="Roboto"/>
            </a:endParaRPr>
          </a:p>
        </p:txBody>
      </p:sp>
      <p:sp>
        <p:nvSpPr>
          <p:cNvPr id="25" name="Freeform 25"/>
          <p:cNvSpPr/>
          <p:nvPr/>
        </p:nvSpPr>
        <p:spPr>
          <a:xfrm>
            <a:off x="432650" y="525175"/>
            <a:ext cx="1042825" cy="1109795"/>
          </a:xfrm>
          <a:custGeom>
            <a:avLst/>
            <a:gdLst/>
            <a:ahLst/>
            <a:cxnLst/>
            <a:rect l="l" t="t" r="r" b="b"/>
            <a:pathLst>
              <a:path w="1042825" h="1109795">
                <a:moveTo>
                  <a:pt x="0" y="0"/>
                </a:moveTo>
                <a:lnTo>
                  <a:pt x="1042825" y="0"/>
                </a:lnTo>
                <a:lnTo>
                  <a:pt x="1042825" y="1109796"/>
                </a:lnTo>
                <a:lnTo>
                  <a:pt x="0" y="1109796"/>
                </a:lnTo>
                <a:lnTo>
                  <a:pt x="0" y="0"/>
                </a:lnTo>
                <a:close/>
              </a:path>
            </a:pathLst>
          </a:custGeom>
          <a:blipFill>
            <a:blip r:embed="rId3"/>
            <a:stretch>
              <a:fillRect/>
            </a:stretch>
          </a:blipFill>
        </p:spPr>
      </p:sp>
      <p:sp>
        <p:nvSpPr>
          <p:cNvPr id="26" name="Freeform 26"/>
          <p:cNvSpPr/>
          <p:nvPr/>
        </p:nvSpPr>
        <p:spPr>
          <a:xfrm>
            <a:off x="1622953" y="525175"/>
            <a:ext cx="1399814" cy="1192193"/>
          </a:xfrm>
          <a:custGeom>
            <a:avLst/>
            <a:gdLst/>
            <a:ahLst/>
            <a:cxnLst/>
            <a:rect l="l" t="t" r="r" b="b"/>
            <a:pathLst>
              <a:path w="1399814" h="1192193">
                <a:moveTo>
                  <a:pt x="0" y="0"/>
                </a:moveTo>
                <a:lnTo>
                  <a:pt x="1399815" y="0"/>
                </a:lnTo>
                <a:lnTo>
                  <a:pt x="1399815" y="1192193"/>
                </a:lnTo>
                <a:lnTo>
                  <a:pt x="0" y="1192193"/>
                </a:lnTo>
                <a:lnTo>
                  <a:pt x="0" y="0"/>
                </a:lnTo>
                <a:close/>
              </a:path>
            </a:pathLst>
          </a:custGeom>
          <a:blipFill>
            <a:blip r:embed="rId4"/>
            <a:stretch>
              <a:fillRect l="-9405" t="-13167" r="-9405" b="-26334"/>
            </a:stretch>
          </a:blipFill>
        </p:spPr>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3710668" y="6011466"/>
            <a:ext cx="7421336" cy="6493669"/>
            <a:chOff x="0" y="0"/>
            <a:chExt cx="812800" cy="711200"/>
          </a:xfrm>
        </p:grpSpPr>
        <p:sp>
          <p:nvSpPr>
            <p:cNvPr id="4" name="Freeform 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5" name="TextBox 5"/>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5400000">
            <a:off x="2696678" y="9388858"/>
            <a:ext cx="2052896" cy="1796284"/>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8" name="TextBox 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4577332" y="-2218134"/>
            <a:ext cx="7421336" cy="6493669"/>
            <a:chOff x="0" y="0"/>
            <a:chExt cx="812800" cy="711200"/>
          </a:xfrm>
        </p:grpSpPr>
        <p:sp>
          <p:nvSpPr>
            <p:cNvPr id="10" name="Freeform 1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11" name="TextBox 11"/>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rot="5400000">
            <a:off x="14304978" y="-1794032"/>
            <a:ext cx="2052896" cy="3592568"/>
            <a:chOff x="0" y="0"/>
            <a:chExt cx="2737195" cy="4790090"/>
          </a:xfrm>
        </p:grpSpPr>
        <p:grpSp>
          <p:nvGrpSpPr>
            <p:cNvPr id="13" name="Group 13"/>
            <p:cNvGrpSpPr/>
            <p:nvPr/>
          </p:nvGrpSpPr>
          <p:grpSpPr>
            <a:xfrm>
              <a:off x="0" y="0"/>
              <a:ext cx="2737195" cy="2395045"/>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15" name="TextBox 15"/>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rot="-10800000">
              <a:off x="0" y="2395045"/>
              <a:ext cx="2737195" cy="2395045"/>
              <a:chOff x="0" y="0"/>
              <a:chExt cx="812800" cy="711200"/>
            </a:xfrm>
          </p:grpSpPr>
          <p:sp>
            <p:nvSpPr>
              <p:cNvPr id="17" name="Freeform 1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18" name="TextBox 1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grpSp>
        <p:nvGrpSpPr>
          <p:cNvPr id="19" name="Group 19"/>
          <p:cNvGrpSpPr/>
          <p:nvPr/>
        </p:nvGrpSpPr>
        <p:grpSpPr>
          <a:xfrm rot="-5400000">
            <a:off x="900394" y="9388858"/>
            <a:ext cx="2052896" cy="1796284"/>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21" name="TextBox 21"/>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22"/>
          <p:cNvSpPr txBox="1"/>
          <p:nvPr/>
        </p:nvSpPr>
        <p:spPr>
          <a:xfrm>
            <a:off x="16405423" y="9070175"/>
            <a:ext cx="853877" cy="643964"/>
          </a:xfrm>
          <a:prstGeom prst="rect">
            <a:avLst/>
          </a:prstGeom>
        </p:spPr>
        <p:txBody>
          <a:bodyPr lIns="0" tIns="0" rIns="0" bIns="0" rtlCol="0" anchor="t">
            <a:spAutoFit/>
          </a:bodyPr>
          <a:lstStyle/>
          <a:p>
            <a:pPr algn="ctr">
              <a:lnSpc>
                <a:spcPts val="5312"/>
              </a:lnSpc>
            </a:pPr>
            <a:r>
              <a:rPr lang="en-US" sz="3794">
                <a:solidFill>
                  <a:srgbClr val="545454"/>
                </a:solidFill>
                <a:latin typeface="Hussar Bold"/>
                <a:ea typeface="Hussar Bold"/>
                <a:cs typeface="Hussar Bold"/>
                <a:sym typeface="Hussar Bold"/>
              </a:rPr>
              <a:t>06</a:t>
            </a:r>
          </a:p>
        </p:txBody>
      </p:sp>
      <p:sp>
        <p:nvSpPr>
          <p:cNvPr id="23" name="TextBox 23"/>
          <p:cNvSpPr txBox="1"/>
          <p:nvPr/>
        </p:nvSpPr>
        <p:spPr>
          <a:xfrm>
            <a:off x="5902122" y="853769"/>
            <a:ext cx="6483755" cy="821700"/>
          </a:xfrm>
          <a:prstGeom prst="rect">
            <a:avLst/>
          </a:prstGeom>
        </p:spPr>
        <p:txBody>
          <a:bodyPr lIns="0" tIns="0" rIns="0" bIns="0" rtlCol="0" anchor="t">
            <a:spAutoFit/>
          </a:bodyPr>
          <a:lstStyle/>
          <a:p>
            <a:pPr algn="ctr">
              <a:lnSpc>
                <a:spcPts val="7000"/>
              </a:lnSpc>
            </a:pPr>
            <a:r>
              <a:rPr lang="en-US" sz="5000" b="1" dirty="0">
                <a:solidFill>
                  <a:srgbClr val="545454"/>
                </a:solidFill>
                <a:latin typeface="Georgia" pitchFamily="18" charset="0"/>
                <a:ea typeface="Hussar Bold"/>
                <a:cs typeface="Hussar Bold"/>
                <a:sym typeface="Hussar Bold"/>
              </a:rPr>
              <a:t>SDG ALIGNMENTS</a:t>
            </a:r>
          </a:p>
        </p:txBody>
      </p:sp>
      <p:sp>
        <p:nvSpPr>
          <p:cNvPr id="24" name="TextBox 24"/>
          <p:cNvSpPr txBox="1"/>
          <p:nvPr/>
        </p:nvSpPr>
        <p:spPr>
          <a:xfrm>
            <a:off x="1684470" y="2705100"/>
            <a:ext cx="15574830" cy="4167808"/>
          </a:xfrm>
          <a:prstGeom prst="rect">
            <a:avLst/>
          </a:prstGeom>
        </p:spPr>
        <p:txBody>
          <a:bodyPr lIns="0" tIns="0" rIns="0" bIns="0" rtlCol="0" anchor="t">
            <a:spAutoFit/>
          </a:bodyPr>
          <a:lstStyle/>
          <a:p>
            <a:pPr marL="313053" lvl="1">
              <a:lnSpc>
                <a:spcPts val="4059"/>
              </a:lnSpc>
            </a:pPr>
            <a:r>
              <a:rPr lang="en-US" sz="2899" b="1" dirty="0">
                <a:solidFill>
                  <a:srgbClr val="5B694E"/>
                </a:solidFill>
                <a:latin typeface="Perpetua Titling MT" pitchFamily="18" charset="0"/>
                <a:ea typeface="Roboto"/>
                <a:cs typeface="Roboto"/>
                <a:sym typeface="Roboto"/>
              </a:rPr>
              <a:t>Supports the United Nations Sustainable Development Goals</a:t>
            </a:r>
            <a:r>
              <a:rPr lang="en-US" sz="2899" b="1" dirty="0" smtClean="0">
                <a:solidFill>
                  <a:srgbClr val="5B694E"/>
                </a:solidFill>
                <a:latin typeface="Perpetua Titling MT" pitchFamily="18" charset="0"/>
                <a:ea typeface="Roboto"/>
                <a:cs typeface="Roboto"/>
                <a:sym typeface="Roboto"/>
              </a:rPr>
              <a:t>: </a:t>
            </a:r>
          </a:p>
          <a:p>
            <a:pPr marL="770253" lvl="1" indent="-457200">
              <a:lnSpc>
                <a:spcPts val="4059"/>
              </a:lnSpc>
              <a:buFont typeface="Arial" pitchFamily="34" charset="0"/>
              <a:buChar char="•"/>
            </a:pPr>
            <a:r>
              <a:rPr lang="en-US" sz="2899" dirty="0" smtClean="0">
                <a:solidFill>
                  <a:srgbClr val="5B694E"/>
                </a:solidFill>
                <a:latin typeface="Palatino Linotype" pitchFamily="18" charset="0"/>
                <a:ea typeface="Roboto"/>
                <a:cs typeface="Roboto"/>
                <a:sym typeface="Roboto"/>
              </a:rPr>
              <a:t>SDG </a:t>
            </a:r>
            <a:r>
              <a:rPr lang="en-US" sz="2899" dirty="0">
                <a:solidFill>
                  <a:srgbClr val="5B694E"/>
                </a:solidFill>
                <a:latin typeface="Palatino Linotype" pitchFamily="18" charset="0"/>
                <a:ea typeface="Roboto"/>
                <a:cs typeface="Roboto"/>
                <a:sym typeface="Roboto"/>
              </a:rPr>
              <a:t>1: No Poverty – Helps people access financial support schemes</a:t>
            </a:r>
            <a:r>
              <a:rPr lang="en-US" sz="2899" dirty="0" smtClean="0">
                <a:solidFill>
                  <a:srgbClr val="5B694E"/>
                </a:solidFill>
                <a:latin typeface="Palatino Linotype" pitchFamily="18" charset="0"/>
                <a:ea typeface="Roboto"/>
                <a:cs typeface="Roboto"/>
                <a:sym typeface="Roboto"/>
              </a:rPr>
              <a:t>. </a:t>
            </a:r>
          </a:p>
          <a:p>
            <a:pPr marL="770253" lvl="1" indent="-457200">
              <a:lnSpc>
                <a:spcPts val="4059"/>
              </a:lnSpc>
              <a:buFont typeface="Arial" pitchFamily="34" charset="0"/>
              <a:buChar char="•"/>
            </a:pPr>
            <a:r>
              <a:rPr lang="en-US" sz="2899" dirty="0" smtClean="0">
                <a:solidFill>
                  <a:srgbClr val="5B694E"/>
                </a:solidFill>
                <a:latin typeface="Palatino Linotype" pitchFamily="18" charset="0"/>
                <a:ea typeface="Roboto"/>
                <a:cs typeface="Roboto"/>
                <a:sym typeface="Roboto"/>
              </a:rPr>
              <a:t>SDG </a:t>
            </a:r>
            <a:r>
              <a:rPr lang="en-US" sz="2899" dirty="0">
                <a:solidFill>
                  <a:srgbClr val="5B694E"/>
                </a:solidFill>
                <a:latin typeface="Palatino Linotype" pitchFamily="18" charset="0"/>
                <a:ea typeface="Roboto"/>
                <a:cs typeface="Roboto"/>
                <a:sym typeface="Roboto"/>
              </a:rPr>
              <a:t>4: Quality Education – Guides students to scholarships</a:t>
            </a:r>
            <a:r>
              <a:rPr lang="en-US" sz="2899" dirty="0" smtClean="0">
                <a:solidFill>
                  <a:srgbClr val="5B694E"/>
                </a:solidFill>
                <a:latin typeface="Palatino Linotype" pitchFamily="18" charset="0"/>
                <a:ea typeface="Roboto"/>
                <a:cs typeface="Roboto"/>
                <a:sym typeface="Roboto"/>
              </a:rPr>
              <a:t>. </a:t>
            </a:r>
          </a:p>
          <a:p>
            <a:pPr marL="770253" lvl="1" indent="-457200">
              <a:lnSpc>
                <a:spcPts val="4059"/>
              </a:lnSpc>
              <a:buFont typeface="Arial" pitchFamily="34" charset="0"/>
              <a:buChar char="•"/>
            </a:pPr>
            <a:r>
              <a:rPr lang="en-US" sz="2899" dirty="0" smtClean="0">
                <a:solidFill>
                  <a:srgbClr val="5B694E"/>
                </a:solidFill>
                <a:latin typeface="Palatino Linotype" pitchFamily="18" charset="0"/>
                <a:ea typeface="Roboto"/>
                <a:cs typeface="Roboto"/>
                <a:sym typeface="Roboto"/>
              </a:rPr>
              <a:t>SDG </a:t>
            </a:r>
            <a:r>
              <a:rPr lang="en-US" sz="2899" dirty="0">
                <a:solidFill>
                  <a:srgbClr val="5B694E"/>
                </a:solidFill>
                <a:latin typeface="Palatino Linotype" pitchFamily="18" charset="0"/>
                <a:ea typeface="Roboto"/>
                <a:cs typeface="Roboto"/>
                <a:sym typeface="Roboto"/>
              </a:rPr>
              <a:t>10: Reduced Inequalities – Ensures equal access to benefits</a:t>
            </a:r>
            <a:r>
              <a:rPr lang="en-US" sz="2899" dirty="0" smtClean="0">
                <a:solidFill>
                  <a:srgbClr val="5B694E"/>
                </a:solidFill>
                <a:latin typeface="Palatino Linotype" pitchFamily="18" charset="0"/>
                <a:ea typeface="Roboto"/>
                <a:cs typeface="Roboto"/>
                <a:sym typeface="Roboto"/>
              </a:rPr>
              <a:t>. </a:t>
            </a:r>
          </a:p>
          <a:p>
            <a:pPr marL="770253" lvl="1" indent="-457200">
              <a:lnSpc>
                <a:spcPts val="4059"/>
              </a:lnSpc>
              <a:buFont typeface="Arial" pitchFamily="34" charset="0"/>
              <a:buChar char="•"/>
            </a:pPr>
            <a:r>
              <a:rPr lang="en-US" sz="2899" dirty="0" smtClean="0">
                <a:solidFill>
                  <a:srgbClr val="5B694E"/>
                </a:solidFill>
                <a:latin typeface="Palatino Linotype" pitchFamily="18" charset="0"/>
                <a:ea typeface="Roboto"/>
                <a:cs typeface="Roboto"/>
                <a:sym typeface="Roboto"/>
              </a:rPr>
              <a:t>SDG </a:t>
            </a:r>
            <a:r>
              <a:rPr lang="en-US" sz="2899" dirty="0">
                <a:solidFill>
                  <a:srgbClr val="5B694E"/>
                </a:solidFill>
                <a:latin typeface="Palatino Linotype" pitchFamily="18" charset="0"/>
                <a:ea typeface="Roboto"/>
                <a:cs typeface="Roboto"/>
                <a:sym typeface="Roboto"/>
              </a:rPr>
              <a:t>16: Peace, Justice and Strong Institutions – Improves access to government services</a:t>
            </a:r>
            <a:r>
              <a:rPr lang="en-US" sz="2899" dirty="0" smtClean="0">
                <a:solidFill>
                  <a:srgbClr val="5B694E"/>
                </a:solidFill>
                <a:latin typeface="Palatino Linotype" pitchFamily="18" charset="0"/>
                <a:ea typeface="Roboto"/>
                <a:cs typeface="Roboto"/>
                <a:sym typeface="Roboto"/>
              </a:rPr>
              <a:t>. </a:t>
            </a:r>
          </a:p>
          <a:p>
            <a:pPr marL="313053" lvl="1">
              <a:lnSpc>
                <a:spcPts val="4059"/>
              </a:lnSpc>
            </a:pPr>
            <a:r>
              <a:rPr lang="en-US" sz="2899" b="1" dirty="0" smtClean="0">
                <a:solidFill>
                  <a:srgbClr val="5B694E"/>
                </a:solidFill>
                <a:latin typeface="Perpetua Titling MT" pitchFamily="18" charset="0"/>
                <a:ea typeface="Roboto"/>
                <a:cs typeface="Roboto"/>
                <a:sym typeface="Roboto"/>
              </a:rPr>
              <a:t>Impact: </a:t>
            </a:r>
          </a:p>
          <a:p>
            <a:pPr marL="313053" lvl="1" algn="ctr">
              <a:lnSpc>
                <a:spcPts val="4059"/>
              </a:lnSpc>
            </a:pPr>
            <a:r>
              <a:rPr lang="en-US" sz="2899" dirty="0" smtClean="0">
                <a:solidFill>
                  <a:srgbClr val="5B694E"/>
                </a:solidFill>
                <a:latin typeface="Palatino Linotype" pitchFamily="18" charset="0"/>
                <a:ea typeface="Roboto"/>
                <a:cs typeface="Roboto"/>
                <a:sym typeface="Roboto"/>
              </a:rPr>
              <a:t> </a:t>
            </a:r>
            <a:r>
              <a:rPr lang="en-US" sz="2899" dirty="0">
                <a:solidFill>
                  <a:srgbClr val="5B694E"/>
                </a:solidFill>
                <a:latin typeface="Palatino Linotype" pitchFamily="18" charset="0"/>
                <a:ea typeface="Roboto"/>
                <a:cs typeface="Roboto"/>
                <a:sym typeface="Roboto"/>
              </a:rPr>
              <a:t>Improves social welfare, economic support, and transparency in government schemes.</a:t>
            </a:r>
            <a:endParaRPr lang="en-US" sz="2899" dirty="0">
              <a:solidFill>
                <a:srgbClr val="5B694E"/>
              </a:solidFill>
              <a:latin typeface="Palatino Linotype" pitchFamily="18" charset="0"/>
              <a:ea typeface="Roboto"/>
              <a:cs typeface="Roboto"/>
              <a:sym typeface="Roboto"/>
            </a:endParaRPr>
          </a:p>
          <a:p>
            <a:pPr algn="ctr">
              <a:lnSpc>
                <a:spcPts val="4059"/>
              </a:lnSpc>
            </a:pPr>
            <a:endParaRPr lang="en-US" sz="2899" dirty="0">
              <a:solidFill>
                <a:srgbClr val="5B694E"/>
              </a:solidFill>
              <a:latin typeface="Roboto"/>
              <a:ea typeface="Roboto"/>
              <a:cs typeface="Roboto"/>
              <a:sym typeface="Roboto"/>
            </a:endParaRPr>
          </a:p>
        </p:txBody>
      </p:sp>
      <p:sp>
        <p:nvSpPr>
          <p:cNvPr id="25" name="Freeform 25"/>
          <p:cNvSpPr/>
          <p:nvPr/>
        </p:nvSpPr>
        <p:spPr>
          <a:xfrm>
            <a:off x="432650" y="525175"/>
            <a:ext cx="1042825" cy="1109795"/>
          </a:xfrm>
          <a:custGeom>
            <a:avLst/>
            <a:gdLst/>
            <a:ahLst/>
            <a:cxnLst/>
            <a:rect l="l" t="t" r="r" b="b"/>
            <a:pathLst>
              <a:path w="1042825" h="1109795">
                <a:moveTo>
                  <a:pt x="0" y="0"/>
                </a:moveTo>
                <a:lnTo>
                  <a:pt x="1042825" y="0"/>
                </a:lnTo>
                <a:lnTo>
                  <a:pt x="1042825" y="1109796"/>
                </a:lnTo>
                <a:lnTo>
                  <a:pt x="0" y="1109796"/>
                </a:lnTo>
                <a:lnTo>
                  <a:pt x="0" y="0"/>
                </a:lnTo>
                <a:close/>
              </a:path>
            </a:pathLst>
          </a:custGeom>
          <a:blipFill>
            <a:blip r:embed="rId3"/>
            <a:stretch>
              <a:fillRect/>
            </a:stretch>
          </a:blipFill>
        </p:spPr>
      </p:sp>
      <p:sp>
        <p:nvSpPr>
          <p:cNvPr id="26" name="Freeform 26"/>
          <p:cNvSpPr/>
          <p:nvPr/>
        </p:nvSpPr>
        <p:spPr>
          <a:xfrm>
            <a:off x="1622953" y="525175"/>
            <a:ext cx="1399814" cy="1192193"/>
          </a:xfrm>
          <a:custGeom>
            <a:avLst/>
            <a:gdLst/>
            <a:ahLst/>
            <a:cxnLst/>
            <a:rect l="l" t="t" r="r" b="b"/>
            <a:pathLst>
              <a:path w="1399814" h="1192193">
                <a:moveTo>
                  <a:pt x="0" y="0"/>
                </a:moveTo>
                <a:lnTo>
                  <a:pt x="1399815" y="0"/>
                </a:lnTo>
                <a:lnTo>
                  <a:pt x="1399815" y="1192193"/>
                </a:lnTo>
                <a:lnTo>
                  <a:pt x="0" y="1192193"/>
                </a:lnTo>
                <a:lnTo>
                  <a:pt x="0" y="0"/>
                </a:lnTo>
                <a:close/>
              </a:path>
            </a:pathLst>
          </a:custGeom>
          <a:blipFill>
            <a:blip r:embed="rId4"/>
            <a:stretch>
              <a:fillRect l="-9405" t="-13167" r="-9405" b="-26334"/>
            </a:stretch>
          </a:blipFill>
        </p:spPr>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3710668" y="6011466"/>
            <a:ext cx="7421336" cy="6493669"/>
            <a:chOff x="0" y="0"/>
            <a:chExt cx="812800" cy="711200"/>
          </a:xfrm>
        </p:grpSpPr>
        <p:sp>
          <p:nvSpPr>
            <p:cNvPr id="4" name="Freeform 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5" name="TextBox 5"/>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5400000">
            <a:off x="2696678" y="9388858"/>
            <a:ext cx="2052896" cy="1796284"/>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8" name="TextBox 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4577332" y="-2218134"/>
            <a:ext cx="7421336" cy="6493669"/>
            <a:chOff x="0" y="0"/>
            <a:chExt cx="812800" cy="711200"/>
          </a:xfrm>
        </p:grpSpPr>
        <p:sp>
          <p:nvSpPr>
            <p:cNvPr id="10" name="Freeform 1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11" name="TextBox 11"/>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rot="5400000">
            <a:off x="14304978" y="-1794032"/>
            <a:ext cx="2052896" cy="3592568"/>
            <a:chOff x="0" y="0"/>
            <a:chExt cx="2737195" cy="4790090"/>
          </a:xfrm>
        </p:grpSpPr>
        <p:grpSp>
          <p:nvGrpSpPr>
            <p:cNvPr id="13" name="Group 13"/>
            <p:cNvGrpSpPr/>
            <p:nvPr/>
          </p:nvGrpSpPr>
          <p:grpSpPr>
            <a:xfrm>
              <a:off x="0" y="0"/>
              <a:ext cx="2737195" cy="2395045"/>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15" name="TextBox 15"/>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rot="-10800000">
              <a:off x="0" y="2395045"/>
              <a:ext cx="2737195" cy="2395045"/>
              <a:chOff x="0" y="0"/>
              <a:chExt cx="812800" cy="711200"/>
            </a:xfrm>
          </p:grpSpPr>
          <p:sp>
            <p:nvSpPr>
              <p:cNvPr id="17" name="Freeform 1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18" name="TextBox 1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grpSp>
        <p:nvGrpSpPr>
          <p:cNvPr id="19" name="Group 19"/>
          <p:cNvGrpSpPr/>
          <p:nvPr/>
        </p:nvGrpSpPr>
        <p:grpSpPr>
          <a:xfrm rot="-5400000">
            <a:off x="900394" y="9388858"/>
            <a:ext cx="2052896" cy="1796284"/>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21" name="TextBox 21"/>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22"/>
          <p:cNvSpPr txBox="1"/>
          <p:nvPr/>
        </p:nvSpPr>
        <p:spPr>
          <a:xfrm>
            <a:off x="16405423" y="9070175"/>
            <a:ext cx="853877" cy="643964"/>
          </a:xfrm>
          <a:prstGeom prst="rect">
            <a:avLst/>
          </a:prstGeom>
        </p:spPr>
        <p:txBody>
          <a:bodyPr lIns="0" tIns="0" rIns="0" bIns="0" rtlCol="0" anchor="t">
            <a:spAutoFit/>
          </a:bodyPr>
          <a:lstStyle/>
          <a:p>
            <a:pPr algn="ctr">
              <a:lnSpc>
                <a:spcPts val="5312"/>
              </a:lnSpc>
            </a:pPr>
            <a:r>
              <a:rPr lang="en-US" sz="3794">
                <a:solidFill>
                  <a:srgbClr val="545454"/>
                </a:solidFill>
                <a:latin typeface="Hussar Bold"/>
                <a:ea typeface="Hussar Bold"/>
                <a:cs typeface="Hussar Bold"/>
                <a:sym typeface="Hussar Bold"/>
              </a:rPr>
              <a:t>07</a:t>
            </a:r>
          </a:p>
        </p:txBody>
      </p:sp>
      <p:sp>
        <p:nvSpPr>
          <p:cNvPr id="23" name="TextBox 23"/>
          <p:cNvSpPr txBox="1"/>
          <p:nvPr/>
        </p:nvSpPr>
        <p:spPr>
          <a:xfrm>
            <a:off x="4792443" y="596900"/>
            <a:ext cx="8670688" cy="821700"/>
          </a:xfrm>
          <a:prstGeom prst="rect">
            <a:avLst/>
          </a:prstGeom>
        </p:spPr>
        <p:txBody>
          <a:bodyPr lIns="0" tIns="0" rIns="0" bIns="0" rtlCol="0" anchor="t">
            <a:spAutoFit/>
          </a:bodyPr>
          <a:lstStyle/>
          <a:p>
            <a:pPr algn="ctr">
              <a:lnSpc>
                <a:spcPts val="7000"/>
              </a:lnSpc>
            </a:pPr>
            <a:r>
              <a:rPr lang="en-US" sz="5000" b="1" dirty="0">
                <a:solidFill>
                  <a:srgbClr val="545454"/>
                </a:solidFill>
                <a:latin typeface="Georgia" pitchFamily="18" charset="0"/>
                <a:ea typeface="Hussar Bold"/>
                <a:cs typeface="Hussar Bold"/>
                <a:sym typeface="Hussar Bold"/>
              </a:rPr>
              <a:t>FINANCIAL ESTIMATION</a:t>
            </a:r>
          </a:p>
        </p:txBody>
      </p:sp>
      <p:sp>
        <p:nvSpPr>
          <p:cNvPr id="24" name="TextBox 24"/>
          <p:cNvSpPr txBox="1"/>
          <p:nvPr/>
        </p:nvSpPr>
        <p:spPr>
          <a:xfrm>
            <a:off x="3043844" y="6210300"/>
            <a:ext cx="13262504" cy="3680495"/>
          </a:xfrm>
          <a:prstGeom prst="rect">
            <a:avLst/>
          </a:prstGeom>
        </p:spPr>
        <p:txBody>
          <a:bodyPr lIns="0" tIns="0" rIns="0" bIns="0" rtlCol="0" anchor="t">
            <a:spAutoFit/>
          </a:bodyPr>
          <a:lstStyle/>
          <a:p>
            <a:pPr marL="313053" lvl="1" algn="just">
              <a:lnSpc>
                <a:spcPts val="4059"/>
              </a:lnSpc>
            </a:pPr>
            <a:r>
              <a:rPr lang="en-US" sz="2899" b="1" dirty="0" smtClean="0">
                <a:solidFill>
                  <a:srgbClr val="5B694E"/>
                </a:solidFill>
                <a:latin typeface="Perpetua Titling MT" pitchFamily="18" charset="0"/>
                <a:ea typeface="Roboto"/>
                <a:cs typeface="Roboto"/>
                <a:sym typeface="Roboto"/>
              </a:rPr>
              <a:t>Revenue Sources </a:t>
            </a:r>
          </a:p>
          <a:p>
            <a:pPr marL="770253" lvl="1" indent="-457200" algn="just">
              <a:lnSpc>
                <a:spcPts val="4059"/>
              </a:lnSpc>
              <a:buFont typeface="Wingdings" pitchFamily="2" charset="2"/>
              <a:buChar char="§"/>
            </a:pPr>
            <a:r>
              <a:rPr lang="en-US" sz="2899" dirty="0" smtClean="0">
                <a:solidFill>
                  <a:srgbClr val="5B694E"/>
                </a:solidFill>
                <a:latin typeface="Palatino Linotype" pitchFamily="18" charset="0"/>
                <a:ea typeface="Roboto"/>
                <a:cs typeface="Roboto"/>
                <a:sym typeface="Roboto"/>
              </a:rPr>
              <a:t>Government partnerships </a:t>
            </a:r>
          </a:p>
          <a:p>
            <a:pPr marL="770253" lvl="1" indent="-457200" algn="just">
              <a:lnSpc>
                <a:spcPts val="4059"/>
              </a:lnSpc>
              <a:buFont typeface="Wingdings" pitchFamily="2" charset="2"/>
              <a:buChar char="§"/>
            </a:pPr>
            <a:r>
              <a:rPr lang="en-US" sz="2899" dirty="0" smtClean="0">
                <a:solidFill>
                  <a:srgbClr val="5B694E"/>
                </a:solidFill>
                <a:latin typeface="Palatino Linotype" pitchFamily="18" charset="0"/>
                <a:ea typeface="Roboto"/>
                <a:cs typeface="Roboto"/>
                <a:sym typeface="Roboto"/>
              </a:rPr>
              <a:t>NGO collaborations </a:t>
            </a:r>
          </a:p>
          <a:p>
            <a:pPr marL="770253" lvl="1" indent="-457200" algn="just">
              <a:lnSpc>
                <a:spcPts val="4059"/>
              </a:lnSpc>
              <a:buFont typeface="Wingdings" pitchFamily="2" charset="2"/>
              <a:buChar char="§"/>
            </a:pPr>
            <a:r>
              <a:rPr lang="en-US" sz="2899" dirty="0" smtClean="0">
                <a:solidFill>
                  <a:srgbClr val="5B694E"/>
                </a:solidFill>
                <a:latin typeface="Palatino Linotype" pitchFamily="18" charset="0"/>
                <a:ea typeface="Roboto"/>
                <a:cs typeface="Roboto"/>
                <a:sym typeface="Roboto"/>
              </a:rPr>
              <a:t>Advertisements </a:t>
            </a:r>
          </a:p>
          <a:p>
            <a:pPr marL="770253" lvl="1" indent="-457200" algn="just">
              <a:lnSpc>
                <a:spcPts val="4059"/>
              </a:lnSpc>
              <a:buFont typeface="Wingdings" pitchFamily="2" charset="2"/>
              <a:buChar char="§"/>
            </a:pPr>
            <a:r>
              <a:rPr lang="en-US" sz="2899" b="1" dirty="0" smtClean="0">
                <a:solidFill>
                  <a:srgbClr val="5B694E"/>
                </a:solidFill>
                <a:latin typeface="Perpetua Titling MT" pitchFamily="18" charset="0"/>
                <a:ea typeface="Roboto"/>
                <a:cs typeface="Roboto"/>
                <a:sym typeface="Roboto"/>
              </a:rPr>
              <a:t>Return </a:t>
            </a:r>
            <a:r>
              <a:rPr lang="en-US" sz="2899" b="1" dirty="0">
                <a:solidFill>
                  <a:srgbClr val="5B694E"/>
                </a:solidFill>
                <a:latin typeface="Perpetua Titling MT" pitchFamily="18" charset="0"/>
                <a:ea typeface="Roboto"/>
                <a:cs typeface="Roboto"/>
                <a:sym typeface="Roboto"/>
              </a:rPr>
              <a:t>on </a:t>
            </a:r>
            <a:r>
              <a:rPr lang="en-US" sz="2899" b="1" dirty="0" smtClean="0">
                <a:solidFill>
                  <a:srgbClr val="5B694E"/>
                </a:solidFill>
                <a:latin typeface="Perpetua Titling MT" pitchFamily="18" charset="0"/>
                <a:ea typeface="Roboto"/>
                <a:cs typeface="Roboto"/>
                <a:sym typeface="Roboto"/>
              </a:rPr>
              <a:t>Investment </a:t>
            </a:r>
          </a:p>
          <a:p>
            <a:pPr marL="770253" lvl="1" indent="-457200" algn="just">
              <a:lnSpc>
                <a:spcPts val="4059"/>
              </a:lnSpc>
              <a:buFont typeface="Wingdings" pitchFamily="2" charset="2"/>
              <a:buChar char="§"/>
            </a:pPr>
            <a:r>
              <a:rPr lang="en-US" sz="2899" dirty="0" smtClean="0">
                <a:solidFill>
                  <a:srgbClr val="5B694E"/>
                </a:solidFill>
                <a:latin typeface="Palatino Linotype" pitchFamily="18" charset="0"/>
                <a:ea typeface="Roboto"/>
                <a:cs typeface="Roboto"/>
                <a:sym typeface="Roboto"/>
              </a:rPr>
              <a:t>Helps </a:t>
            </a:r>
            <a:r>
              <a:rPr lang="en-US" sz="2899" dirty="0">
                <a:solidFill>
                  <a:srgbClr val="5B694E"/>
                </a:solidFill>
                <a:latin typeface="Palatino Linotype" pitchFamily="18" charset="0"/>
                <a:ea typeface="Roboto"/>
                <a:cs typeface="Roboto"/>
                <a:sym typeface="Roboto"/>
              </a:rPr>
              <a:t>citizens easily access schemes from the Government of India</a:t>
            </a:r>
            <a:r>
              <a:rPr lang="en-US" sz="2899" dirty="0" smtClean="0">
                <a:solidFill>
                  <a:srgbClr val="5B694E"/>
                </a:solidFill>
                <a:latin typeface="Palatino Linotype" pitchFamily="18" charset="0"/>
                <a:ea typeface="Roboto"/>
                <a:cs typeface="Roboto"/>
                <a:sym typeface="Roboto"/>
              </a:rPr>
              <a:t>. </a:t>
            </a:r>
          </a:p>
          <a:p>
            <a:pPr marL="770253" lvl="1" indent="-457200" algn="just">
              <a:lnSpc>
                <a:spcPts val="4059"/>
              </a:lnSpc>
              <a:buFont typeface="Wingdings" pitchFamily="2" charset="2"/>
              <a:buChar char="§"/>
            </a:pPr>
            <a:r>
              <a:rPr lang="en-US" sz="2899" dirty="0" smtClean="0">
                <a:solidFill>
                  <a:srgbClr val="5B694E"/>
                </a:solidFill>
                <a:latin typeface="Palatino Linotype" pitchFamily="18" charset="0"/>
                <a:ea typeface="Roboto"/>
                <a:cs typeface="Roboto"/>
                <a:sym typeface="Roboto"/>
              </a:rPr>
              <a:t>Reduces </a:t>
            </a:r>
            <a:r>
              <a:rPr lang="en-US" sz="2899" dirty="0">
                <a:solidFill>
                  <a:srgbClr val="5B694E"/>
                </a:solidFill>
                <a:latin typeface="Palatino Linotype" pitchFamily="18" charset="0"/>
                <a:ea typeface="Roboto"/>
                <a:cs typeface="Roboto"/>
                <a:sym typeface="Roboto"/>
              </a:rPr>
              <a:t>time and effort to find welfare benefits.</a:t>
            </a:r>
            <a:endParaRPr lang="en-US" sz="2899" dirty="0">
              <a:solidFill>
                <a:srgbClr val="5B694E"/>
              </a:solidFill>
              <a:latin typeface="Palatino Linotype" pitchFamily="18" charset="0"/>
              <a:ea typeface="Roboto"/>
              <a:cs typeface="Roboto"/>
              <a:sym typeface="Roboto"/>
            </a:endParaRPr>
          </a:p>
        </p:txBody>
      </p:sp>
      <p:sp>
        <p:nvSpPr>
          <p:cNvPr id="25" name="Freeform 25"/>
          <p:cNvSpPr/>
          <p:nvPr/>
        </p:nvSpPr>
        <p:spPr>
          <a:xfrm>
            <a:off x="432650" y="525175"/>
            <a:ext cx="1042825" cy="1109795"/>
          </a:xfrm>
          <a:custGeom>
            <a:avLst/>
            <a:gdLst/>
            <a:ahLst/>
            <a:cxnLst/>
            <a:rect l="l" t="t" r="r" b="b"/>
            <a:pathLst>
              <a:path w="1042825" h="1109795">
                <a:moveTo>
                  <a:pt x="0" y="0"/>
                </a:moveTo>
                <a:lnTo>
                  <a:pt x="1042825" y="0"/>
                </a:lnTo>
                <a:lnTo>
                  <a:pt x="1042825" y="1109796"/>
                </a:lnTo>
                <a:lnTo>
                  <a:pt x="0" y="1109796"/>
                </a:lnTo>
                <a:lnTo>
                  <a:pt x="0" y="0"/>
                </a:lnTo>
                <a:close/>
              </a:path>
            </a:pathLst>
          </a:custGeom>
          <a:blipFill>
            <a:blip r:embed="rId3"/>
            <a:stretch>
              <a:fillRect/>
            </a:stretch>
          </a:blipFill>
        </p:spPr>
      </p:sp>
      <p:sp>
        <p:nvSpPr>
          <p:cNvPr id="26" name="Freeform 26"/>
          <p:cNvSpPr/>
          <p:nvPr/>
        </p:nvSpPr>
        <p:spPr>
          <a:xfrm>
            <a:off x="1622953" y="525175"/>
            <a:ext cx="1399814" cy="1192193"/>
          </a:xfrm>
          <a:custGeom>
            <a:avLst/>
            <a:gdLst/>
            <a:ahLst/>
            <a:cxnLst/>
            <a:rect l="l" t="t" r="r" b="b"/>
            <a:pathLst>
              <a:path w="1399814" h="1192193">
                <a:moveTo>
                  <a:pt x="0" y="0"/>
                </a:moveTo>
                <a:lnTo>
                  <a:pt x="1399815" y="0"/>
                </a:lnTo>
                <a:lnTo>
                  <a:pt x="1399815" y="1192193"/>
                </a:lnTo>
                <a:lnTo>
                  <a:pt x="0" y="1192193"/>
                </a:lnTo>
                <a:lnTo>
                  <a:pt x="0" y="0"/>
                </a:lnTo>
                <a:close/>
              </a:path>
            </a:pathLst>
          </a:custGeom>
          <a:blipFill>
            <a:blip r:embed="rId4"/>
            <a:stretch>
              <a:fillRect l="-9405" t="-13167" r="-9405" b="-26334"/>
            </a:stretch>
          </a:blipFill>
        </p:spPr>
      </p:sp>
      <p:graphicFrame>
        <p:nvGraphicFramePr>
          <p:cNvPr id="27" name="Table 26"/>
          <p:cNvGraphicFramePr>
            <a:graphicFrameLocks noGrp="1"/>
          </p:cNvGraphicFramePr>
          <p:nvPr>
            <p:extLst>
              <p:ext uri="{D42A27DB-BD31-4B8C-83A1-F6EECF244321}">
                <p14:modId xmlns:p14="http://schemas.microsoft.com/office/powerpoint/2010/main" val="1696763264"/>
              </p:ext>
            </p:extLst>
          </p:nvPr>
        </p:nvGraphicFramePr>
        <p:xfrm>
          <a:off x="2971800" y="1717369"/>
          <a:ext cx="11040099" cy="4162732"/>
        </p:xfrm>
        <a:graphic>
          <a:graphicData uri="http://schemas.openxmlformats.org/drawingml/2006/table">
            <a:tbl>
              <a:tblPr firstRow="1" bandRow="1">
                <a:tableStyleId>{5940675A-B579-460E-94D1-54222C63F5DA}</a:tableStyleId>
              </a:tblPr>
              <a:tblGrid>
                <a:gridCol w="5564300"/>
                <a:gridCol w="5475799"/>
              </a:tblGrid>
              <a:tr h="594676">
                <a:tc>
                  <a:txBody>
                    <a:bodyPr/>
                    <a:lstStyle/>
                    <a:p>
                      <a:pPr algn="ctr"/>
                      <a:r>
                        <a:rPr lang="en-IN" sz="3200" b="1" dirty="0" smtClean="0">
                          <a:latin typeface="Arial Black" pitchFamily="34" charset="0"/>
                        </a:rPr>
                        <a:t>ITEM</a:t>
                      </a:r>
                      <a:r>
                        <a:rPr lang="en-IN" sz="3200" b="1" baseline="0" dirty="0" smtClean="0">
                          <a:latin typeface="Arial Black" pitchFamily="34" charset="0"/>
                        </a:rPr>
                        <a:t> </a:t>
                      </a:r>
                      <a:endParaRPr lang="en-IN" sz="3200" b="1" dirty="0">
                        <a:latin typeface="Arial Black" pitchFamily="34" charset="0"/>
                      </a:endParaRPr>
                    </a:p>
                  </a:txBody>
                  <a:tcPr/>
                </a:tc>
                <a:tc>
                  <a:txBody>
                    <a:bodyPr/>
                    <a:lstStyle/>
                    <a:p>
                      <a:r>
                        <a:rPr lang="en-IN" sz="3200" dirty="0" smtClean="0">
                          <a:latin typeface="Arial Black" pitchFamily="34" charset="0"/>
                        </a:rPr>
                        <a:t>COST(INR)</a:t>
                      </a:r>
                      <a:endParaRPr lang="en-IN" sz="3200" dirty="0">
                        <a:latin typeface="Arial Black" pitchFamily="34" charset="0"/>
                      </a:endParaRPr>
                    </a:p>
                  </a:txBody>
                  <a:tcPr/>
                </a:tc>
              </a:tr>
              <a:tr h="594676">
                <a:tc>
                  <a:txBody>
                    <a:bodyPr/>
                    <a:lstStyle/>
                    <a:p>
                      <a:r>
                        <a:rPr lang="en-IN" sz="2800" dirty="0" smtClean="0"/>
                        <a:t>Basic </a:t>
                      </a:r>
                      <a:r>
                        <a:rPr lang="en-IN" sz="2800" smtClean="0">
                          <a:latin typeface="+mn-lt"/>
                        </a:rPr>
                        <a:t>app</a:t>
                      </a:r>
                      <a:r>
                        <a:rPr lang="en-IN" sz="2800" smtClean="0"/>
                        <a:t> development </a:t>
                      </a:r>
                      <a:endParaRPr lang="en-IN" sz="2800" dirty="0"/>
                    </a:p>
                  </a:txBody>
                  <a:tcPr/>
                </a:tc>
                <a:tc>
                  <a:txBody>
                    <a:bodyPr/>
                    <a:lstStyle/>
                    <a:p>
                      <a:r>
                        <a:rPr lang="en-IN" sz="2800" dirty="0" smtClean="0"/>
                        <a:t>₹10,000</a:t>
                      </a:r>
                      <a:endParaRPr lang="en-IN" sz="2800" dirty="0"/>
                    </a:p>
                  </a:txBody>
                  <a:tcPr/>
                </a:tc>
              </a:tr>
              <a:tr h="594676">
                <a:tc>
                  <a:txBody>
                    <a:bodyPr/>
                    <a:lstStyle/>
                    <a:p>
                      <a:r>
                        <a:rPr lang="en-IN" sz="2800" dirty="0" smtClean="0">
                          <a:latin typeface="+mn-lt"/>
                        </a:rPr>
                        <a:t>Cloud hosting &amp; data</a:t>
                      </a:r>
                      <a:r>
                        <a:rPr lang="en-IN" sz="2800" baseline="0" dirty="0" smtClean="0">
                          <a:latin typeface="+mn-lt"/>
                        </a:rPr>
                        <a:t>base</a:t>
                      </a:r>
                      <a:endParaRPr lang="en-IN" sz="2800" dirty="0">
                        <a:latin typeface="+mn-lt"/>
                      </a:endParaRPr>
                    </a:p>
                  </a:txBody>
                  <a:tcPr/>
                </a:tc>
                <a:tc>
                  <a:txBody>
                    <a:bodyPr/>
                    <a:lstStyle/>
                    <a:p>
                      <a:r>
                        <a:rPr lang="en-IN" sz="2800" dirty="0" smtClean="0"/>
                        <a:t>₹5,000</a:t>
                      </a:r>
                      <a:endParaRPr lang="en-IN" sz="2800" dirty="0"/>
                    </a:p>
                  </a:txBody>
                  <a:tcPr/>
                </a:tc>
              </a:tr>
              <a:tr h="594676">
                <a:tc>
                  <a:txBody>
                    <a:bodyPr/>
                    <a:lstStyle/>
                    <a:p>
                      <a:r>
                        <a:rPr lang="en-IN" sz="2800" dirty="0" smtClean="0"/>
                        <a:t>UI </a:t>
                      </a:r>
                      <a:r>
                        <a:rPr lang="en-IN" sz="2800" baseline="0" dirty="0" smtClean="0"/>
                        <a:t>Design</a:t>
                      </a:r>
                      <a:endParaRPr lang="en-IN" sz="2800" dirty="0"/>
                    </a:p>
                  </a:txBody>
                  <a:tcPr/>
                </a:tc>
                <a:tc>
                  <a:txBody>
                    <a:bodyPr/>
                    <a:lstStyle/>
                    <a:p>
                      <a:r>
                        <a:rPr lang="en-IN" sz="2800" dirty="0" smtClean="0"/>
                        <a:t>₹3,000</a:t>
                      </a:r>
                      <a:endParaRPr lang="en-IN" sz="2800" dirty="0"/>
                    </a:p>
                  </a:txBody>
                  <a:tcPr/>
                </a:tc>
              </a:tr>
              <a:tr h="594676">
                <a:tc>
                  <a:txBody>
                    <a:bodyPr/>
                    <a:lstStyle/>
                    <a:p>
                      <a:r>
                        <a:rPr lang="en-IN" sz="2800" dirty="0" smtClean="0"/>
                        <a:t>Testing &amp; maintenance</a:t>
                      </a:r>
                      <a:endParaRPr lang="en-IN" sz="2800" dirty="0"/>
                    </a:p>
                  </a:txBody>
                  <a:tcPr/>
                </a:tc>
                <a:tc>
                  <a:txBody>
                    <a:bodyPr/>
                    <a:lstStyle/>
                    <a:p>
                      <a:r>
                        <a:rPr lang="en-IN" sz="2800" dirty="0" smtClean="0"/>
                        <a:t>₹2,000</a:t>
                      </a:r>
                      <a:endParaRPr lang="en-IN" sz="2800" dirty="0"/>
                    </a:p>
                  </a:txBody>
                  <a:tcPr/>
                </a:tc>
              </a:tr>
              <a:tr h="594676">
                <a:tc>
                  <a:txBody>
                    <a:bodyPr/>
                    <a:lstStyle/>
                    <a:p>
                      <a:r>
                        <a:rPr lang="en-IN" sz="2800" dirty="0" smtClean="0"/>
                        <a:t>Marketing</a:t>
                      </a:r>
                      <a:endParaRPr lang="en-IN" sz="2800" dirty="0"/>
                    </a:p>
                  </a:txBody>
                  <a:tcPr/>
                </a:tc>
                <a:tc>
                  <a:txBody>
                    <a:bodyPr/>
                    <a:lstStyle/>
                    <a:p>
                      <a:r>
                        <a:rPr lang="en-IN" sz="2800" dirty="0" smtClean="0"/>
                        <a:t>₹5,000</a:t>
                      </a:r>
                      <a:endParaRPr lang="en-IN" sz="2800" dirty="0"/>
                    </a:p>
                  </a:txBody>
                  <a:tcPr/>
                </a:tc>
              </a:tr>
              <a:tr h="594676">
                <a:tc>
                  <a:txBody>
                    <a:bodyPr/>
                    <a:lstStyle/>
                    <a:p>
                      <a:r>
                        <a:rPr lang="en-IN" sz="2800" dirty="0" smtClean="0"/>
                        <a:t>Total cost</a:t>
                      </a:r>
                      <a:endParaRPr lang="en-IN" sz="2800" dirty="0"/>
                    </a:p>
                  </a:txBody>
                  <a:tcPr/>
                </a:tc>
                <a:tc>
                  <a:txBody>
                    <a:bodyPr/>
                    <a:lstStyle/>
                    <a:p>
                      <a:r>
                        <a:rPr lang="en-IN" sz="2800" dirty="0" smtClean="0"/>
                        <a:t>₹25,000</a:t>
                      </a:r>
                      <a:endParaRPr lang="en-IN" sz="2800" dirty="0"/>
                    </a:p>
                  </a:txBody>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3710668" y="6011466"/>
            <a:ext cx="7421336" cy="6493669"/>
            <a:chOff x="0" y="0"/>
            <a:chExt cx="812800" cy="711200"/>
          </a:xfrm>
        </p:grpSpPr>
        <p:sp>
          <p:nvSpPr>
            <p:cNvPr id="4" name="Freeform 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5" name="TextBox 5"/>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5400000">
            <a:off x="2696678" y="9388858"/>
            <a:ext cx="2052896" cy="1796284"/>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8" name="TextBox 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4577332" y="-2218134"/>
            <a:ext cx="7421336" cy="6493669"/>
            <a:chOff x="0" y="0"/>
            <a:chExt cx="812800" cy="711200"/>
          </a:xfrm>
        </p:grpSpPr>
        <p:sp>
          <p:nvSpPr>
            <p:cNvPr id="10" name="Freeform 1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11" name="TextBox 11"/>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rot="5400000">
            <a:off x="14304978" y="-1794032"/>
            <a:ext cx="2052896" cy="3592568"/>
            <a:chOff x="0" y="0"/>
            <a:chExt cx="2737195" cy="4790090"/>
          </a:xfrm>
        </p:grpSpPr>
        <p:grpSp>
          <p:nvGrpSpPr>
            <p:cNvPr id="13" name="Group 13"/>
            <p:cNvGrpSpPr/>
            <p:nvPr/>
          </p:nvGrpSpPr>
          <p:grpSpPr>
            <a:xfrm>
              <a:off x="0" y="0"/>
              <a:ext cx="2737195" cy="2395045"/>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15" name="TextBox 15"/>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rot="-10800000">
              <a:off x="0" y="2395045"/>
              <a:ext cx="2737195" cy="2395045"/>
              <a:chOff x="0" y="0"/>
              <a:chExt cx="812800" cy="711200"/>
            </a:xfrm>
          </p:grpSpPr>
          <p:sp>
            <p:nvSpPr>
              <p:cNvPr id="17" name="Freeform 1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18" name="TextBox 1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grpSp>
        <p:nvGrpSpPr>
          <p:cNvPr id="19" name="Group 19"/>
          <p:cNvGrpSpPr/>
          <p:nvPr/>
        </p:nvGrpSpPr>
        <p:grpSpPr>
          <a:xfrm rot="-5400000">
            <a:off x="900394" y="9388858"/>
            <a:ext cx="2052896" cy="1796284"/>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21" name="TextBox 21"/>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22"/>
          <p:cNvSpPr txBox="1"/>
          <p:nvPr/>
        </p:nvSpPr>
        <p:spPr>
          <a:xfrm>
            <a:off x="16405423" y="9070175"/>
            <a:ext cx="853877" cy="643964"/>
          </a:xfrm>
          <a:prstGeom prst="rect">
            <a:avLst/>
          </a:prstGeom>
        </p:spPr>
        <p:txBody>
          <a:bodyPr lIns="0" tIns="0" rIns="0" bIns="0" rtlCol="0" anchor="t">
            <a:spAutoFit/>
          </a:bodyPr>
          <a:lstStyle/>
          <a:p>
            <a:pPr algn="ctr">
              <a:lnSpc>
                <a:spcPts val="5312"/>
              </a:lnSpc>
            </a:pPr>
            <a:r>
              <a:rPr lang="en-US" sz="3794">
                <a:solidFill>
                  <a:srgbClr val="545454"/>
                </a:solidFill>
                <a:latin typeface="Hussar Bold"/>
                <a:ea typeface="Hussar Bold"/>
                <a:cs typeface="Hussar Bold"/>
                <a:sym typeface="Hussar Bold"/>
              </a:rPr>
              <a:t>08</a:t>
            </a:r>
          </a:p>
        </p:txBody>
      </p:sp>
      <p:sp>
        <p:nvSpPr>
          <p:cNvPr id="23" name="TextBox 23"/>
          <p:cNvSpPr txBox="1"/>
          <p:nvPr/>
        </p:nvSpPr>
        <p:spPr>
          <a:xfrm>
            <a:off x="6688334" y="853769"/>
            <a:ext cx="4911333" cy="821700"/>
          </a:xfrm>
          <a:prstGeom prst="rect">
            <a:avLst/>
          </a:prstGeom>
        </p:spPr>
        <p:txBody>
          <a:bodyPr lIns="0" tIns="0" rIns="0" bIns="0" rtlCol="0" anchor="t">
            <a:spAutoFit/>
          </a:bodyPr>
          <a:lstStyle/>
          <a:p>
            <a:pPr algn="ctr">
              <a:lnSpc>
                <a:spcPts val="7000"/>
              </a:lnSpc>
            </a:pPr>
            <a:r>
              <a:rPr lang="en-US" sz="5000" b="1" dirty="0">
                <a:solidFill>
                  <a:srgbClr val="545454"/>
                </a:solidFill>
                <a:latin typeface="Georgia" pitchFamily="18" charset="0"/>
                <a:ea typeface="Hussar Bold"/>
                <a:cs typeface="Hussar Bold"/>
                <a:sym typeface="Hussar Bold"/>
              </a:rPr>
              <a:t>CONCLUSION</a:t>
            </a:r>
          </a:p>
        </p:txBody>
      </p:sp>
      <p:sp>
        <p:nvSpPr>
          <p:cNvPr id="24" name="TextBox 24"/>
          <p:cNvSpPr txBox="1"/>
          <p:nvPr/>
        </p:nvSpPr>
        <p:spPr>
          <a:xfrm>
            <a:off x="3368272" y="2476500"/>
            <a:ext cx="11522275" cy="4167808"/>
          </a:xfrm>
          <a:prstGeom prst="rect">
            <a:avLst/>
          </a:prstGeom>
        </p:spPr>
        <p:txBody>
          <a:bodyPr lIns="0" tIns="0" rIns="0" bIns="0" rtlCol="0" anchor="t">
            <a:spAutoFit/>
          </a:bodyPr>
          <a:lstStyle/>
          <a:p>
            <a:pPr marL="770253" lvl="1" indent="-457200">
              <a:lnSpc>
                <a:spcPts val="4059"/>
              </a:lnSpc>
              <a:buFont typeface="Wingdings" pitchFamily="2" charset="2"/>
              <a:buChar char="ü"/>
            </a:pPr>
            <a:r>
              <a:rPr lang="en-US" sz="2899" dirty="0">
                <a:solidFill>
                  <a:srgbClr val="5B694E"/>
                </a:solidFill>
                <a:latin typeface="Palatino Linotype" pitchFamily="18" charset="0"/>
                <a:ea typeface="Roboto"/>
                <a:cs typeface="Roboto"/>
                <a:sym typeface="Roboto"/>
              </a:rPr>
              <a:t>The Autonomous Scheme Navigator helps citizens easily find government welfare schemes based on their eligibility</a:t>
            </a:r>
            <a:r>
              <a:rPr lang="en-US" sz="2899" dirty="0" smtClean="0">
                <a:solidFill>
                  <a:srgbClr val="5B694E"/>
                </a:solidFill>
                <a:latin typeface="Palatino Linotype" pitchFamily="18" charset="0"/>
                <a:ea typeface="Roboto"/>
                <a:cs typeface="Roboto"/>
                <a:sym typeface="Roboto"/>
              </a:rPr>
              <a:t>. </a:t>
            </a:r>
          </a:p>
          <a:p>
            <a:pPr marL="770253" lvl="1" indent="-457200">
              <a:lnSpc>
                <a:spcPts val="4059"/>
              </a:lnSpc>
              <a:buFont typeface="Wingdings" pitchFamily="2" charset="2"/>
              <a:buChar char="ü"/>
            </a:pPr>
            <a:r>
              <a:rPr lang="en-US" sz="2899" dirty="0" smtClean="0">
                <a:solidFill>
                  <a:srgbClr val="5B694E"/>
                </a:solidFill>
                <a:latin typeface="Palatino Linotype" pitchFamily="18" charset="0"/>
                <a:ea typeface="Roboto"/>
                <a:cs typeface="Roboto"/>
                <a:sym typeface="Roboto"/>
              </a:rPr>
              <a:t> </a:t>
            </a:r>
            <a:r>
              <a:rPr lang="en-US" sz="2899" dirty="0">
                <a:solidFill>
                  <a:srgbClr val="5B694E"/>
                </a:solidFill>
                <a:latin typeface="Palatino Linotype" pitchFamily="18" charset="0"/>
                <a:ea typeface="Roboto"/>
                <a:cs typeface="Roboto"/>
                <a:sym typeface="Roboto"/>
              </a:rPr>
              <a:t>It provides a simple and smart platform that recommends suitable schemes quickly</a:t>
            </a:r>
            <a:r>
              <a:rPr lang="en-US" sz="2899" dirty="0" smtClean="0">
                <a:solidFill>
                  <a:srgbClr val="5B694E"/>
                </a:solidFill>
                <a:latin typeface="Roboto"/>
                <a:ea typeface="Roboto"/>
                <a:cs typeface="Roboto"/>
                <a:sym typeface="Roboto"/>
              </a:rPr>
              <a:t>. </a:t>
            </a:r>
          </a:p>
          <a:p>
            <a:pPr marL="313053" lvl="1">
              <a:lnSpc>
                <a:spcPts val="4059"/>
              </a:lnSpc>
            </a:pPr>
            <a:r>
              <a:rPr lang="en-US" sz="2899" b="1" dirty="0" smtClean="0">
                <a:solidFill>
                  <a:srgbClr val="5B694E"/>
                </a:solidFill>
                <a:latin typeface="Perpetua Titling MT" pitchFamily="18" charset="0"/>
                <a:ea typeface="Roboto"/>
                <a:cs typeface="Roboto"/>
                <a:sym typeface="Roboto"/>
              </a:rPr>
              <a:t>Key </a:t>
            </a:r>
            <a:r>
              <a:rPr lang="en-US" sz="2899" b="1" dirty="0">
                <a:solidFill>
                  <a:srgbClr val="5B694E"/>
                </a:solidFill>
                <a:latin typeface="Perpetua Titling MT" pitchFamily="18" charset="0"/>
                <a:ea typeface="Roboto"/>
                <a:cs typeface="Roboto"/>
                <a:sym typeface="Roboto"/>
              </a:rPr>
              <a:t>Benefits</a:t>
            </a:r>
            <a:r>
              <a:rPr lang="en-US" sz="2899" b="1" dirty="0" smtClean="0">
                <a:solidFill>
                  <a:srgbClr val="5B694E"/>
                </a:solidFill>
                <a:latin typeface="Perpetua Titling MT" pitchFamily="18" charset="0"/>
                <a:ea typeface="Roboto"/>
                <a:cs typeface="Roboto"/>
                <a:sym typeface="Roboto"/>
              </a:rPr>
              <a:t>: </a:t>
            </a:r>
          </a:p>
          <a:p>
            <a:pPr marL="770253" lvl="1" indent="-457200">
              <a:lnSpc>
                <a:spcPts val="4059"/>
              </a:lnSpc>
              <a:buFont typeface="Wingdings" pitchFamily="2" charset="2"/>
              <a:buChar char="ü"/>
            </a:pPr>
            <a:r>
              <a:rPr lang="en-US" sz="2899" dirty="0" smtClean="0">
                <a:solidFill>
                  <a:srgbClr val="5B694E"/>
                </a:solidFill>
                <a:latin typeface="Palatino Linotype" pitchFamily="18" charset="0"/>
                <a:ea typeface="Roboto"/>
                <a:cs typeface="Roboto"/>
                <a:sym typeface="Roboto"/>
              </a:rPr>
              <a:t>Easy </a:t>
            </a:r>
            <a:r>
              <a:rPr lang="en-US" sz="2899" dirty="0">
                <a:solidFill>
                  <a:srgbClr val="5B694E"/>
                </a:solidFill>
                <a:latin typeface="Palatino Linotype" pitchFamily="18" charset="0"/>
                <a:ea typeface="Roboto"/>
                <a:cs typeface="Roboto"/>
                <a:sym typeface="Roboto"/>
              </a:rPr>
              <a:t>access to welfare </a:t>
            </a:r>
            <a:r>
              <a:rPr lang="en-US" sz="2899" dirty="0" smtClean="0">
                <a:solidFill>
                  <a:srgbClr val="5B694E"/>
                </a:solidFill>
                <a:latin typeface="Palatino Linotype" pitchFamily="18" charset="0"/>
                <a:ea typeface="Roboto"/>
                <a:cs typeface="Roboto"/>
                <a:sym typeface="Roboto"/>
              </a:rPr>
              <a:t>schemes Saves </a:t>
            </a:r>
            <a:r>
              <a:rPr lang="en-US" sz="2899" dirty="0">
                <a:solidFill>
                  <a:srgbClr val="5B694E"/>
                </a:solidFill>
                <a:latin typeface="Palatino Linotype" pitchFamily="18" charset="0"/>
                <a:ea typeface="Roboto"/>
                <a:cs typeface="Roboto"/>
                <a:sym typeface="Roboto"/>
              </a:rPr>
              <a:t>time and effort for </a:t>
            </a:r>
            <a:r>
              <a:rPr lang="en-US" sz="2899" dirty="0" smtClean="0">
                <a:solidFill>
                  <a:srgbClr val="5B694E"/>
                </a:solidFill>
                <a:latin typeface="Palatino Linotype" pitchFamily="18" charset="0"/>
                <a:ea typeface="Roboto"/>
                <a:cs typeface="Roboto"/>
                <a:sym typeface="Roboto"/>
              </a:rPr>
              <a:t>citizens Increases </a:t>
            </a:r>
            <a:r>
              <a:rPr lang="en-US" sz="2899" dirty="0">
                <a:solidFill>
                  <a:srgbClr val="5B694E"/>
                </a:solidFill>
                <a:latin typeface="Palatino Linotype" pitchFamily="18" charset="0"/>
                <a:ea typeface="Roboto"/>
                <a:cs typeface="Roboto"/>
                <a:sym typeface="Roboto"/>
              </a:rPr>
              <a:t>awareness about government </a:t>
            </a:r>
            <a:r>
              <a:rPr lang="en-US" sz="2899" dirty="0" smtClean="0">
                <a:solidFill>
                  <a:srgbClr val="5B694E"/>
                </a:solidFill>
                <a:latin typeface="Palatino Linotype" pitchFamily="18" charset="0"/>
                <a:ea typeface="Roboto"/>
                <a:cs typeface="Roboto"/>
                <a:sym typeface="Roboto"/>
              </a:rPr>
              <a:t>benefits Supports </a:t>
            </a:r>
            <a:r>
              <a:rPr lang="en-US" sz="2899" dirty="0">
                <a:solidFill>
                  <a:srgbClr val="5B694E"/>
                </a:solidFill>
                <a:latin typeface="Palatino Linotype" pitchFamily="18" charset="0"/>
                <a:ea typeface="Roboto"/>
                <a:cs typeface="Roboto"/>
                <a:sym typeface="Roboto"/>
              </a:rPr>
              <a:t>efficient service delivery by the Government of India.</a:t>
            </a:r>
            <a:endParaRPr lang="en-US" sz="2899" dirty="0">
              <a:solidFill>
                <a:srgbClr val="5B694E"/>
              </a:solidFill>
              <a:latin typeface="Palatino Linotype" pitchFamily="18" charset="0"/>
              <a:ea typeface="Roboto"/>
              <a:cs typeface="Roboto"/>
              <a:sym typeface="Roboto"/>
            </a:endParaRPr>
          </a:p>
        </p:txBody>
      </p:sp>
      <p:sp>
        <p:nvSpPr>
          <p:cNvPr id="25" name="Freeform 25"/>
          <p:cNvSpPr/>
          <p:nvPr/>
        </p:nvSpPr>
        <p:spPr>
          <a:xfrm>
            <a:off x="432650" y="525175"/>
            <a:ext cx="1042825" cy="1109795"/>
          </a:xfrm>
          <a:custGeom>
            <a:avLst/>
            <a:gdLst/>
            <a:ahLst/>
            <a:cxnLst/>
            <a:rect l="l" t="t" r="r" b="b"/>
            <a:pathLst>
              <a:path w="1042825" h="1109795">
                <a:moveTo>
                  <a:pt x="0" y="0"/>
                </a:moveTo>
                <a:lnTo>
                  <a:pt x="1042825" y="0"/>
                </a:lnTo>
                <a:lnTo>
                  <a:pt x="1042825" y="1109796"/>
                </a:lnTo>
                <a:lnTo>
                  <a:pt x="0" y="1109796"/>
                </a:lnTo>
                <a:lnTo>
                  <a:pt x="0" y="0"/>
                </a:lnTo>
                <a:close/>
              </a:path>
            </a:pathLst>
          </a:custGeom>
          <a:blipFill>
            <a:blip r:embed="rId3"/>
            <a:stretch>
              <a:fillRect/>
            </a:stretch>
          </a:blipFill>
        </p:spPr>
      </p:sp>
      <p:sp>
        <p:nvSpPr>
          <p:cNvPr id="26" name="Freeform 26"/>
          <p:cNvSpPr/>
          <p:nvPr/>
        </p:nvSpPr>
        <p:spPr>
          <a:xfrm>
            <a:off x="1622953" y="525175"/>
            <a:ext cx="1399814" cy="1192193"/>
          </a:xfrm>
          <a:custGeom>
            <a:avLst/>
            <a:gdLst/>
            <a:ahLst/>
            <a:cxnLst/>
            <a:rect l="l" t="t" r="r" b="b"/>
            <a:pathLst>
              <a:path w="1399814" h="1192193">
                <a:moveTo>
                  <a:pt x="0" y="0"/>
                </a:moveTo>
                <a:lnTo>
                  <a:pt x="1399815" y="0"/>
                </a:lnTo>
                <a:lnTo>
                  <a:pt x="1399815" y="1192193"/>
                </a:lnTo>
                <a:lnTo>
                  <a:pt x="0" y="1192193"/>
                </a:lnTo>
                <a:lnTo>
                  <a:pt x="0" y="0"/>
                </a:lnTo>
                <a:close/>
              </a:path>
            </a:pathLst>
          </a:custGeom>
          <a:blipFill>
            <a:blip r:embed="rId4"/>
            <a:stretch>
              <a:fillRect l="-9405" t="-13167" r="-9405" b="-26334"/>
            </a:stretch>
          </a:blipFill>
        </p:spPr>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3710668" y="6011466"/>
            <a:ext cx="7421336" cy="6493669"/>
            <a:chOff x="0" y="0"/>
            <a:chExt cx="812800" cy="711200"/>
          </a:xfrm>
        </p:grpSpPr>
        <p:sp>
          <p:nvSpPr>
            <p:cNvPr id="4" name="Freeform 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5" name="TextBox 5"/>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10800000">
            <a:off x="-1024196" y="5738089"/>
            <a:ext cx="2052896" cy="1796284"/>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8" name="TextBox 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10800000">
            <a:off x="14577332" y="-2218134"/>
            <a:ext cx="7421336" cy="6493669"/>
            <a:chOff x="0" y="0"/>
            <a:chExt cx="812800" cy="711200"/>
          </a:xfrm>
        </p:grpSpPr>
        <p:sp>
          <p:nvSpPr>
            <p:cNvPr id="10" name="Freeform 1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11" name="TextBox 11"/>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7259300" y="2931737"/>
            <a:ext cx="2052896" cy="1796284"/>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14" name="TextBox 14"/>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rot="-10800000">
            <a:off x="17259300" y="4728021"/>
            <a:ext cx="2052896" cy="1796284"/>
            <a:chOff x="0" y="0"/>
            <a:chExt cx="812800" cy="711200"/>
          </a:xfrm>
        </p:grpSpPr>
        <p:sp>
          <p:nvSpPr>
            <p:cNvPr id="16" name="Freeform 1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17" name="TextBox 17"/>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1024196" y="3941805"/>
            <a:ext cx="2052896" cy="1796284"/>
            <a:chOff x="0" y="0"/>
            <a:chExt cx="812800" cy="711200"/>
          </a:xfrm>
        </p:grpSpPr>
        <p:sp>
          <p:nvSpPr>
            <p:cNvPr id="19" name="Freeform 1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20" name="TextBox 20"/>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21"/>
          <p:cNvSpPr txBox="1"/>
          <p:nvPr/>
        </p:nvSpPr>
        <p:spPr>
          <a:xfrm>
            <a:off x="6887146" y="853769"/>
            <a:ext cx="4513708" cy="897682"/>
          </a:xfrm>
          <a:prstGeom prst="rect">
            <a:avLst/>
          </a:prstGeom>
        </p:spPr>
        <p:txBody>
          <a:bodyPr lIns="0" tIns="0" rIns="0" bIns="0" rtlCol="0" anchor="t">
            <a:spAutoFit/>
          </a:bodyPr>
          <a:lstStyle/>
          <a:p>
            <a:pPr algn="ctr">
              <a:lnSpc>
                <a:spcPts val="7000"/>
              </a:lnSpc>
            </a:pPr>
            <a:r>
              <a:rPr lang="en-US" sz="4800" b="1" dirty="0">
                <a:solidFill>
                  <a:srgbClr val="545454"/>
                </a:solidFill>
                <a:latin typeface="Georgia" pitchFamily="18" charset="0"/>
                <a:ea typeface="Hussar Bold"/>
                <a:cs typeface="Hussar Bold"/>
                <a:sym typeface="Hussar Bold"/>
              </a:rPr>
              <a:t>REFERENCES</a:t>
            </a:r>
          </a:p>
        </p:txBody>
      </p:sp>
      <p:sp>
        <p:nvSpPr>
          <p:cNvPr id="22" name="TextBox 22"/>
          <p:cNvSpPr txBox="1"/>
          <p:nvPr/>
        </p:nvSpPr>
        <p:spPr>
          <a:xfrm>
            <a:off x="3348816" y="2220296"/>
            <a:ext cx="12276374" cy="6835204"/>
          </a:xfrm>
          <a:prstGeom prst="rect">
            <a:avLst/>
          </a:prstGeom>
        </p:spPr>
        <p:txBody>
          <a:bodyPr lIns="0" tIns="0" rIns="0" bIns="0" rtlCol="0" anchor="t">
            <a:spAutoFit/>
          </a:bodyPr>
          <a:lstStyle/>
          <a:p>
            <a:pPr marL="827403" lvl="1" indent="-514350">
              <a:lnSpc>
                <a:spcPts val="4059"/>
              </a:lnSpc>
              <a:buFont typeface="+mj-lt"/>
              <a:buAutoNum type="arabicPeriod"/>
            </a:pPr>
            <a:r>
              <a:rPr lang="en-US" sz="2899" dirty="0" smtClean="0">
                <a:solidFill>
                  <a:srgbClr val="5B694E"/>
                </a:solidFill>
                <a:latin typeface="Perpetua Titling MT" pitchFamily="18" charset="0"/>
                <a:ea typeface="Roboto"/>
                <a:cs typeface="Roboto"/>
                <a:sym typeface="Roboto"/>
              </a:rPr>
              <a:t>My Scheme </a:t>
            </a:r>
            <a:r>
              <a:rPr lang="en-US" sz="2899" dirty="0">
                <a:solidFill>
                  <a:srgbClr val="5B694E"/>
                </a:solidFill>
                <a:latin typeface="Perpetua Titling MT" pitchFamily="18" charset="0"/>
                <a:ea typeface="Roboto"/>
                <a:cs typeface="Roboto"/>
                <a:sym typeface="Roboto"/>
              </a:rPr>
              <a:t>Portal </a:t>
            </a:r>
            <a:r>
              <a:rPr lang="en-US" sz="2899" dirty="0">
                <a:solidFill>
                  <a:srgbClr val="5B694E"/>
                </a:solidFill>
                <a:latin typeface="Roboto"/>
                <a:ea typeface="Roboto"/>
                <a:cs typeface="Roboto"/>
                <a:sym typeface="Roboto"/>
              </a:rPr>
              <a:t>– </a:t>
            </a:r>
            <a:r>
              <a:rPr lang="en-US" sz="2899" dirty="0">
                <a:solidFill>
                  <a:srgbClr val="5B694E"/>
                </a:solidFill>
                <a:latin typeface="Palatino Linotype" pitchFamily="18" charset="0"/>
                <a:ea typeface="Roboto"/>
                <a:cs typeface="Roboto"/>
                <a:sym typeface="Roboto"/>
              </a:rPr>
              <a:t>Official platform for discovering government schemes</a:t>
            </a:r>
            <a:r>
              <a:rPr lang="en-US" sz="2899" dirty="0" smtClean="0">
                <a:solidFill>
                  <a:srgbClr val="5B694E"/>
                </a:solidFill>
                <a:latin typeface="Palatino Linotype" pitchFamily="18" charset="0"/>
                <a:ea typeface="Roboto"/>
                <a:cs typeface="Roboto"/>
                <a:sym typeface="Roboto"/>
              </a:rPr>
              <a:t>. </a:t>
            </a:r>
          </a:p>
          <a:p>
            <a:pPr marL="827403" lvl="1" indent="-514350">
              <a:lnSpc>
                <a:spcPts val="4059"/>
              </a:lnSpc>
              <a:buFont typeface="+mj-lt"/>
              <a:buAutoNum type="arabicPeriod"/>
            </a:pPr>
            <a:r>
              <a:rPr lang="en-US" sz="2899" dirty="0" smtClean="0">
                <a:solidFill>
                  <a:srgbClr val="5B694E"/>
                </a:solidFill>
                <a:latin typeface="Perpetua Titling MT" pitchFamily="18" charset="0"/>
                <a:ea typeface="Roboto"/>
                <a:cs typeface="Roboto"/>
                <a:sym typeface="Roboto"/>
              </a:rPr>
              <a:t>Digital </a:t>
            </a:r>
            <a:r>
              <a:rPr lang="en-US" sz="2899" dirty="0">
                <a:solidFill>
                  <a:srgbClr val="5B694E"/>
                </a:solidFill>
                <a:latin typeface="Perpetua Titling MT" pitchFamily="18" charset="0"/>
                <a:ea typeface="Roboto"/>
                <a:cs typeface="Roboto"/>
                <a:sym typeface="Roboto"/>
              </a:rPr>
              <a:t>India Initiative </a:t>
            </a:r>
            <a:r>
              <a:rPr lang="en-US" sz="2899" dirty="0">
                <a:solidFill>
                  <a:srgbClr val="5B694E"/>
                </a:solidFill>
                <a:latin typeface="Palatino Linotype" pitchFamily="18" charset="0"/>
                <a:ea typeface="Roboto"/>
                <a:cs typeface="Roboto"/>
                <a:sym typeface="Roboto"/>
              </a:rPr>
              <a:t>– Government program promoting digital access to public services.</a:t>
            </a:r>
            <a:r>
              <a:rPr lang="en-US" sz="2899" dirty="0">
                <a:solidFill>
                  <a:srgbClr val="5B694E"/>
                </a:solidFill>
                <a:latin typeface="Roboto"/>
                <a:ea typeface="Roboto"/>
                <a:cs typeface="Roboto"/>
                <a:sym typeface="Roboto"/>
              </a:rPr>
              <a:t> </a:t>
            </a:r>
            <a:r>
              <a:rPr lang="en-US" sz="2899" dirty="0" smtClean="0">
                <a:solidFill>
                  <a:srgbClr val="5B694E"/>
                </a:solidFill>
                <a:latin typeface="Roboto"/>
                <a:ea typeface="Roboto"/>
                <a:cs typeface="Roboto"/>
                <a:sym typeface="Roboto"/>
              </a:rPr>
              <a:t> </a:t>
            </a:r>
          </a:p>
          <a:p>
            <a:pPr marL="827403" lvl="1" indent="-514350">
              <a:lnSpc>
                <a:spcPts val="4059"/>
              </a:lnSpc>
              <a:buFont typeface="+mj-lt"/>
              <a:buAutoNum type="arabicPeriod"/>
            </a:pPr>
            <a:r>
              <a:rPr lang="en-US" sz="2899" dirty="0" smtClean="0">
                <a:solidFill>
                  <a:srgbClr val="5B694E"/>
                </a:solidFill>
                <a:latin typeface="Perpetua Titling MT" pitchFamily="18" charset="0"/>
                <a:ea typeface="Roboto"/>
                <a:cs typeface="Roboto"/>
                <a:sym typeface="Roboto"/>
              </a:rPr>
              <a:t>National </a:t>
            </a:r>
            <a:r>
              <a:rPr lang="en-US" sz="2899" dirty="0">
                <a:solidFill>
                  <a:srgbClr val="5B694E"/>
                </a:solidFill>
                <a:latin typeface="Perpetua Titling MT" pitchFamily="18" charset="0"/>
                <a:ea typeface="Roboto"/>
                <a:cs typeface="Roboto"/>
                <a:sym typeface="Roboto"/>
              </a:rPr>
              <a:t>e-Governance Division </a:t>
            </a:r>
            <a:r>
              <a:rPr lang="en-US" sz="2899" dirty="0">
                <a:solidFill>
                  <a:srgbClr val="5B694E"/>
                </a:solidFill>
                <a:latin typeface="Palatino Linotype" pitchFamily="18" charset="0"/>
                <a:ea typeface="Roboto"/>
                <a:cs typeface="Roboto"/>
                <a:sym typeface="Roboto"/>
              </a:rPr>
              <a:t>– Organization that manages the </a:t>
            </a:r>
            <a:r>
              <a:rPr lang="en-US" sz="2899" dirty="0" smtClean="0">
                <a:solidFill>
                  <a:srgbClr val="5B694E"/>
                </a:solidFill>
                <a:latin typeface="Palatino Linotype" pitchFamily="18" charset="0"/>
                <a:ea typeface="Roboto"/>
                <a:cs typeface="Roboto"/>
                <a:sym typeface="Roboto"/>
              </a:rPr>
              <a:t>my Scheme </a:t>
            </a:r>
            <a:r>
              <a:rPr lang="en-US" sz="2899" dirty="0">
                <a:solidFill>
                  <a:srgbClr val="5B694E"/>
                </a:solidFill>
                <a:latin typeface="Palatino Linotype" pitchFamily="18" charset="0"/>
                <a:ea typeface="Roboto"/>
                <a:cs typeface="Roboto"/>
                <a:sym typeface="Roboto"/>
              </a:rPr>
              <a:t>platform</a:t>
            </a:r>
            <a:r>
              <a:rPr lang="en-US" sz="2899" dirty="0" smtClean="0">
                <a:solidFill>
                  <a:srgbClr val="5B694E"/>
                </a:solidFill>
                <a:latin typeface="Palatino Linotype" pitchFamily="18" charset="0"/>
                <a:ea typeface="Roboto"/>
                <a:cs typeface="Roboto"/>
                <a:sym typeface="Roboto"/>
              </a:rPr>
              <a:t>. </a:t>
            </a:r>
          </a:p>
          <a:p>
            <a:pPr marL="827403" lvl="1" indent="-514350">
              <a:lnSpc>
                <a:spcPts val="4059"/>
              </a:lnSpc>
              <a:buFont typeface="+mj-lt"/>
              <a:buAutoNum type="arabicPeriod"/>
            </a:pPr>
            <a:r>
              <a:rPr lang="en-US" sz="2899" dirty="0" smtClean="0">
                <a:solidFill>
                  <a:srgbClr val="5B694E"/>
                </a:solidFill>
                <a:latin typeface="Palatino Linotype" pitchFamily="18" charset="0"/>
                <a:ea typeface="Roboto"/>
                <a:cs typeface="Roboto"/>
                <a:sym typeface="Roboto"/>
              </a:rPr>
              <a:t>Government </a:t>
            </a:r>
            <a:r>
              <a:rPr lang="en-US" sz="2899" dirty="0">
                <a:solidFill>
                  <a:srgbClr val="5B694E"/>
                </a:solidFill>
                <a:latin typeface="Palatino Linotype" pitchFamily="18" charset="0"/>
                <a:ea typeface="Roboto"/>
                <a:cs typeface="Roboto"/>
                <a:sym typeface="Roboto"/>
              </a:rPr>
              <a:t>scheme information portals and official government websites</a:t>
            </a:r>
            <a:r>
              <a:rPr lang="en-US" sz="2899" dirty="0" smtClean="0">
                <a:solidFill>
                  <a:srgbClr val="5B694E"/>
                </a:solidFill>
                <a:latin typeface="Palatino Linotype" pitchFamily="18" charset="0"/>
                <a:ea typeface="Roboto"/>
                <a:cs typeface="Roboto"/>
                <a:sym typeface="Roboto"/>
              </a:rPr>
              <a:t>. </a:t>
            </a:r>
          </a:p>
          <a:p>
            <a:pPr marL="827403" lvl="1" indent="-514350">
              <a:lnSpc>
                <a:spcPts val="4059"/>
              </a:lnSpc>
              <a:buFont typeface="+mj-lt"/>
              <a:buAutoNum type="arabicPeriod"/>
            </a:pPr>
            <a:r>
              <a:rPr lang="en-US" sz="2899" dirty="0" smtClean="0">
                <a:solidFill>
                  <a:srgbClr val="5B694E"/>
                </a:solidFill>
                <a:latin typeface="Palatino Linotype" pitchFamily="18" charset="0"/>
                <a:ea typeface="Roboto"/>
                <a:cs typeface="Roboto"/>
                <a:sym typeface="Roboto"/>
              </a:rPr>
              <a:t>Online </a:t>
            </a:r>
            <a:r>
              <a:rPr lang="en-US" sz="2899" dirty="0">
                <a:solidFill>
                  <a:srgbClr val="5B694E"/>
                </a:solidFill>
                <a:latin typeface="Palatino Linotype" pitchFamily="18" charset="0"/>
                <a:ea typeface="Roboto"/>
                <a:cs typeface="Roboto"/>
                <a:sym typeface="Roboto"/>
              </a:rPr>
              <a:t>research articles and digital governance resources related to welfare scheme discovery systems</a:t>
            </a:r>
            <a:r>
              <a:rPr lang="en-US" sz="2899" dirty="0" smtClean="0">
                <a:solidFill>
                  <a:srgbClr val="5B694E"/>
                </a:solidFill>
                <a:latin typeface="Palatino Linotype" pitchFamily="18" charset="0"/>
                <a:ea typeface="Roboto"/>
                <a:cs typeface="Roboto"/>
                <a:sym typeface="Roboto"/>
              </a:rPr>
              <a:t>. </a:t>
            </a:r>
          </a:p>
          <a:p>
            <a:pPr marL="313053" lvl="1">
              <a:lnSpc>
                <a:spcPts val="4059"/>
              </a:lnSpc>
            </a:pPr>
            <a:r>
              <a:rPr lang="en-US" sz="2899" dirty="0" smtClean="0">
                <a:solidFill>
                  <a:srgbClr val="5B694E"/>
                </a:solidFill>
                <a:latin typeface="Palatino Linotype" pitchFamily="18" charset="0"/>
                <a:ea typeface="Roboto"/>
                <a:cs typeface="Roboto"/>
                <a:sym typeface="Roboto"/>
              </a:rPr>
              <a:t>These </a:t>
            </a:r>
            <a:r>
              <a:rPr lang="en-US" sz="2899" dirty="0">
                <a:solidFill>
                  <a:srgbClr val="5B694E"/>
                </a:solidFill>
                <a:latin typeface="Palatino Linotype" pitchFamily="18" charset="0"/>
                <a:ea typeface="Roboto"/>
                <a:cs typeface="Roboto"/>
                <a:sym typeface="Roboto"/>
              </a:rPr>
              <a:t>sources were used to understand existing platforms and the need for an Autonomous Scheme Navigator system.</a:t>
            </a:r>
            <a:endParaRPr lang="en-US" sz="2899" dirty="0">
              <a:solidFill>
                <a:srgbClr val="5B694E"/>
              </a:solidFill>
              <a:latin typeface="Palatino Linotype" pitchFamily="18" charset="0"/>
              <a:ea typeface="Roboto"/>
              <a:cs typeface="Roboto"/>
              <a:sym typeface="Roboto"/>
            </a:endParaRPr>
          </a:p>
          <a:p>
            <a:pPr algn="ctr">
              <a:lnSpc>
                <a:spcPts val="4059"/>
              </a:lnSpc>
            </a:pPr>
            <a:endParaRPr lang="en-US" sz="2899" dirty="0">
              <a:solidFill>
                <a:srgbClr val="5B694E"/>
              </a:solidFill>
              <a:latin typeface="Roboto"/>
              <a:ea typeface="Roboto"/>
              <a:cs typeface="Roboto"/>
              <a:sym typeface="Roboto"/>
            </a:endParaRPr>
          </a:p>
        </p:txBody>
      </p:sp>
      <p:sp>
        <p:nvSpPr>
          <p:cNvPr id="23" name="Freeform 23"/>
          <p:cNvSpPr/>
          <p:nvPr/>
        </p:nvSpPr>
        <p:spPr>
          <a:xfrm>
            <a:off x="432650" y="525175"/>
            <a:ext cx="1042825" cy="1109795"/>
          </a:xfrm>
          <a:custGeom>
            <a:avLst/>
            <a:gdLst/>
            <a:ahLst/>
            <a:cxnLst/>
            <a:rect l="l" t="t" r="r" b="b"/>
            <a:pathLst>
              <a:path w="1042825" h="1109795">
                <a:moveTo>
                  <a:pt x="0" y="0"/>
                </a:moveTo>
                <a:lnTo>
                  <a:pt x="1042825" y="0"/>
                </a:lnTo>
                <a:lnTo>
                  <a:pt x="1042825" y="1109796"/>
                </a:lnTo>
                <a:lnTo>
                  <a:pt x="0" y="1109796"/>
                </a:lnTo>
                <a:lnTo>
                  <a:pt x="0" y="0"/>
                </a:lnTo>
                <a:close/>
              </a:path>
            </a:pathLst>
          </a:custGeom>
          <a:blipFill>
            <a:blip r:embed="rId3"/>
            <a:stretch>
              <a:fillRect/>
            </a:stretch>
          </a:blipFill>
        </p:spPr>
      </p:sp>
      <p:sp>
        <p:nvSpPr>
          <p:cNvPr id="24" name="Freeform 24"/>
          <p:cNvSpPr/>
          <p:nvPr/>
        </p:nvSpPr>
        <p:spPr>
          <a:xfrm>
            <a:off x="1622953" y="525175"/>
            <a:ext cx="1399814" cy="1192193"/>
          </a:xfrm>
          <a:custGeom>
            <a:avLst/>
            <a:gdLst/>
            <a:ahLst/>
            <a:cxnLst/>
            <a:rect l="l" t="t" r="r" b="b"/>
            <a:pathLst>
              <a:path w="1399814" h="1192193">
                <a:moveTo>
                  <a:pt x="0" y="0"/>
                </a:moveTo>
                <a:lnTo>
                  <a:pt x="1399815" y="0"/>
                </a:lnTo>
                <a:lnTo>
                  <a:pt x="1399815" y="1192193"/>
                </a:lnTo>
                <a:lnTo>
                  <a:pt x="0" y="1192193"/>
                </a:lnTo>
                <a:lnTo>
                  <a:pt x="0" y="0"/>
                </a:lnTo>
                <a:close/>
              </a:path>
            </a:pathLst>
          </a:custGeom>
          <a:blipFill>
            <a:blip r:embed="rId4"/>
            <a:stretch>
              <a:fillRect l="-9405" t="-13167" r="-9405" b="-26334"/>
            </a:stretch>
          </a:blipFill>
        </p:spPr>
      </p:sp>
      <p:sp>
        <p:nvSpPr>
          <p:cNvPr id="25" name="TextBox 25"/>
          <p:cNvSpPr txBox="1"/>
          <p:nvPr/>
        </p:nvSpPr>
        <p:spPr>
          <a:xfrm>
            <a:off x="16405423" y="9070175"/>
            <a:ext cx="853877" cy="643964"/>
          </a:xfrm>
          <a:prstGeom prst="rect">
            <a:avLst/>
          </a:prstGeom>
        </p:spPr>
        <p:txBody>
          <a:bodyPr lIns="0" tIns="0" rIns="0" bIns="0" rtlCol="0" anchor="t">
            <a:spAutoFit/>
          </a:bodyPr>
          <a:lstStyle/>
          <a:p>
            <a:pPr algn="ctr">
              <a:lnSpc>
                <a:spcPts val="5312"/>
              </a:lnSpc>
            </a:pPr>
            <a:r>
              <a:rPr lang="en-US" sz="3794">
                <a:solidFill>
                  <a:srgbClr val="545454"/>
                </a:solidFill>
                <a:latin typeface="Hussar Bold"/>
                <a:ea typeface="Hussar Bold"/>
                <a:cs typeface="Hussar Bold"/>
                <a:sym typeface="Hussar Bold"/>
              </a:rPr>
              <a:t>09</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4080619" y="6059616"/>
            <a:ext cx="7421336" cy="6493669"/>
            <a:chOff x="0" y="0"/>
            <a:chExt cx="812800" cy="711200"/>
          </a:xfrm>
        </p:grpSpPr>
        <p:sp>
          <p:nvSpPr>
            <p:cNvPr id="4" name="Freeform 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5" name="TextBox 5"/>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10800000">
            <a:off x="-1394147" y="5786240"/>
            <a:ext cx="2052896" cy="1796284"/>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8" name="TextBox 8"/>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365592" y="2850843"/>
            <a:ext cx="15893708" cy="6827275"/>
            <a:chOff x="0" y="0"/>
            <a:chExt cx="4078102" cy="1751711"/>
          </a:xfrm>
        </p:grpSpPr>
        <p:sp>
          <p:nvSpPr>
            <p:cNvPr id="10" name="Freeform 10"/>
            <p:cNvSpPr/>
            <p:nvPr/>
          </p:nvSpPr>
          <p:spPr>
            <a:xfrm>
              <a:off x="0" y="0"/>
              <a:ext cx="4078102" cy="1751711"/>
            </a:xfrm>
            <a:custGeom>
              <a:avLst/>
              <a:gdLst/>
              <a:ahLst/>
              <a:cxnLst/>
              <a:rect l="l" t="t" r="r" b="b"/>
              <a:pathLst>
                <a:path w="4078102" h="1751711">
                  <a:moveTo>
                    <a:pt x="4078102" y="48711"/>
                  </a:moveTo>
                  <a:lnTo>
                    <a:pt x="4078102" y="1703000"/>
                  </a:lnTo>
                  <a:cubicBezTo>
                    <a:pt x="4078102" y="1715919"/>
                    <a:pt x="4072970" y="1728309"/>
                    <a:pt x="4063835" y="1737444"/>
                  </a:cubicBezTo>
                  <a:cubicBezTo>
                    <a:pt x="4054700" y="1746579"/>
                    <a:pt x="4042310" y="1751711"/>
                    <a:pt x="4029391" y="1751711"/>
                  </a:cubicBezTo>
                  <a:lnTo>
                    <a:pt x="48711" y="1751711"/>
                  </a:lnTo>
                  <a:cubicBezTo>
                    <a:pt x="21808" y="1751711"/>
                    <a:pt x="0" y="1729902"/>
                    <a:pt x="0" y="1703000"/>
                  </a:cubicBezTo>
                  <a:lnTo>
                    <a:pt x="0" y="48711"/>
                  </a:lnTo>
                  <a:cubicBezTo>
                    <a:pt x="0" y="21808"/>
                    <a:pt x="21808" y="0"/>
                    <a:pt x="48711" y="0"/>
                  </a:cubicBezTo>
                  <a:lnTo>
                    <a:pt x="4029391" y="0"/>
                  </a:lnTo>
                  <a:cubicBezTo>
                    <a:pt x="4056293" y="0"/>
                    <a:pt x="4078102" y="21808"/>
                    <a:pt x="4078102" y="48711"/>
                  </a:cubicBezTo>
                  <a:close/>
                </a:path>
              </a:pathLst>
            </a:custGeom>
            <a:solidFill>
              <a:srgbClr val="6DBF6C">
                <a:alpha val="46667"/>
              </a:srgbClr>
            </a:solidFill>
            <a:ln w="76200" cap="rnd">
              <a:solidFill>
                <a:srgbClr val="000000">
                  <a:alpha val="46667"/>
                </a:srgbClr>
              </a:solidFill>
              <a:prstDash val="solid"/>
              <a:round/>
            </a:ln>
          </p:spPr>
        </p:sp>
        <p:sp>
          <p:nvSpPr>
            <p:cNvPr id="11" name="TextBox 11"/>
            <p:cNvSpPr txBox="1"/>
            <p:nvPr/>
          </p:nvSpPr>
          <p:spPr>
            <a:xfrm>
              <a:off x="0" y="-38100"/>
              <a:ext cx="4078102" cy="178981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rot="-10800000">
            <a:off x="14866237" y="-2354778"/>
            <a:ext cx="7421336" cy="6493669"/>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95D45D"/>
            </a:solidFill>
          </p:spPr>
        </p:sp>
        <p:sp>
          <p:nvSpPr>
            <p:cNvPr id="14" name="TextBox 14"/>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17548205" y="2795093"/>
            <a:ext cx="2052896" cy="1796284"/>
            <a:chOff x="0" y="0"/>
            <a:chExt cx="812800" cy="711200"/>
          </a:xfrm>
        </p:grpSpPr>
        <p:sp>
          <p:nvSpPr>
            <p:cNvPr id="16" name="Freeform 1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6DBF6C"/>
            </a:solidFill>
          </p:spPr>
        </p:sp>
        <p:sp>
          <p:nvSpPr>
            <p:cNvPr id="17" name="TextBox 17"/>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rot="-10800000">
            <a:off x="17548205" y="4591377"/>
            <a:ext cx="2052896" cy="1796284"/>
            <a:chOff x="0" y="0"/>
            <a:chExt cx="812800" cy="711200"/>
          </a:xfrm>
        </p:grpSpPr>
        <p:sp>
          <p:nvSpPr>
            <p:cNvPr id="19" name="Freeform 1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20" name="TextBox 20"/>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394147" y="3989956"/>
            <a:ext cx="2052896" cy="1796284"/>
            <a:chOff x="0" y="0"/>
            <a:chExt cx="812800" cy="711200"/>
          </a:xfrm>
        </p:grpSpPr>
        <p:sp>
          <p:nvSpPr>
            <p:cNvPr id="22" name="Freeform 22"/>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5AAD59"/>
            </a:solidFill>
          </p:spPr>
        </p:sp>
        <p:sp>
          <p:nvSpPr>
            <p:cNvPr id="23" name="TextBox 23"/>
            <p:cNvSpPr txBox="1"/>
            <p:nvPr/>
          </p:nvSpPr>
          <p:spPr>
            <a:xfrm>
              <a:off x="127000" y="292100"/>
              <a:ext cx="558800" cy="368300"/>
            </a:xfrm>
            <a:prstGeom prst="rect">
              <a:avLst/>
            </a:prstGeom>
          </p:spPr>
          <p:txBody>
            <a:bodyPr lIns="50800" tIns="50800" rIns="50800" bIns="50800" rtlCol="0" anchor="ctr"/>
            <a:lstStyle/>
            <a:p>
              <a:pPr algn="ctr">
                <a:lnSpc>
                  <a:spcPts val="2659"/>
                </a:lnSpc>
                <a:spcBef>
                  <a:spcPct val="0"/>
                </a:spcBef>
              </a:pPr>
              <a:endParaRPr/>
            </a:p>
          </p:txBody>
        </p:sp>
      </p:grpSp>
      <p:sp>
        <p:nvSpPr>
          <p:cNvPr id="24" name="TextBox 24"/>
          <p:cNvSpPr txBox="1"/>
          <p:nvPr/>
        </p:nvSpPr>
        <p:spPr>
          <a:xfrm>
            <a:off x="1809279" y="3183842"/>
            <a:ext cx="15006333" cy="6051572"/>
          </a:xfrm>
          <a:prstGeom prst="rect">
            <a:avLst/>
          </a:prstGeom>
        </p:spPr>
        <p:txBody>
          <a:bodyPr lIns="0" tIns="0" rIns="0" bIns="0" rtlCol="0" anchor="t">
            <a:spAutoFit/>
          </a:bodyPr>
          <a:lstStyle/>
          <a:p>
            <a:pPr marL="620529" lvl="1" indent="-310264" algn="just">
              <a:lnSpc>
                <a:spcPts val="4023"/>
              </a:lnSpc>
              <a:buFont typeface="Arial"/>
              <a:buChar char="•"/>
            </a:pPr>
            <a:r>
              <a:rPr lang="en-US" sz="2874" b="1" dirty="0">
                <a:solidFill>
                  <a:srgbClr val="1D3616"/>
                </a:solidFill>
                <a:latin typeface="Roboto Bold"/>
                <a:ea typeface="Roboto Bold"/>
                <a:cs typeface="Roboto Bold"/>
                <a:sym typeface="Roboto Bold"/>
              </a:rPr>
              <a:t>Kindly keep the maximum slides limit up to six (10). ( Including the title slide) </a:t>
            </a:r>
          </a:p>
          <a:p>
            <a:pPr marL="620529" lvl="1" indent="-310264" algn="just">
              <a:lnSpc>
                <a:spcPts val="4023"/>
              </a:lnSpc>
              <a:buFont typeface="Arial"/>
              <a:buChar char="•"/>
            </a:pPr>
            <a:r>
              <a:rPr lang="en-US" sz="2874" b="1" dirty="0">
                <a:solidFill>
                  <a:srgbClr val="1D3616"/>
                </a:solidFill>
                <a:latin typeface="Roboto Bold"/>
                <a:ea typeface="Roboto Bold"/>
                <a:cs typeface="Roboto Bold"/>
                <a:sym typeface="Roboto Bold"/>
              </a:rPr>
              <a:t>Try to avoid paragraphs and post your idea in points /diagrams / </a:t>
            </a:r>
            <a:r>
              <a:rPr lang="en-US" sz="2874" b="1" dirty="0" err="1">
                <a:solidFill>
                  <a:srgbClr val="1D3616"/>
                </a:solidFill>
                <a:latin typeface="Roboto Bold"/>
                <a:ea typeface="Roboto Bold"/>
                <a:cs typeface="Roboto Bold"/>
                <a:sym typeface="Roboto Bold"/>
              </a:rPr>
              <a:t>Infographics</a:t>
            </a:r>
            <a:r>
              <a:rPr lang="en-US" sz="2874" b="1" dirty="0">
                <a:solidFill>
                  <a:srgbClr val="1D3616"/>
                </a:solidFill>
                <a:latin typeface="Roboto Bold"/>
                <a:ea typeface="Roboto Bold"/>
                <a:cs typeface="Roboto Bold"/>
                <a:sym typeface="Roboto Bold"/>
              </a:rPr>
              <a:t> /pictures </a:t>
            </a:r>
          </a:p>
          <a:p>
            <a:pPr marL="620529" lvl="1" indent="-310264" algn="just">
              <a:lnSpc>
                <a:spcPts val="4023"/>
              </a:lnSpc>
              <a:buFont typeface="Arial"/>
              <a:buChar char="•"/>
            </a:pPr>
            <a:r>
              <a:rPr lang="en-US" sz="2874" b="1" dirty="0">
                <a:solidFill>
                  <a:srgbClr val="1D3616"/>
                </a:solidFill>
                <a:latin typeface="Roboto Bold"/>
                <a:ea typeface="Roboto Bold"/>
                <a:cs typeface="Roboto Bold"/>
                <a:sym typeface="Roboto Bold"/>
              </a:rPr>
              <a:t>Keep your explanation precise and easy to understand</a:t>
            </a:r>
          </a:p>
          <a:p>
            <a:pPr marL="620529" lvl="1" indent="-310264" algn="just">
              <a:lnSpc>
                <a:spcPts val="4023"/>
              </a:lnSpc>
              <a:buFont typeface="Arial"/>
              <a:buChar char="•"/>
            </a:pPr>
            <a:r>
              <a:rPr lang="en-US" sz="2874" b="1" dirty="0">
                <a:solidFill>
                  <a:srgbClr val="1D3616"/>
                </a:solidFill>
                <a:latin typeface="Roboto Bold"/>
                <a:ea typeface="Roboto Bold"/>
                <a:cs typeface="Roboto Bold"/>
                <a:sym typeface="Roboto Bold"/>
              </a:rPr>
              <a:t>Idea should be unique and novel. </a:t>
            </a:r>
          </a:p>
          <a:p>
            <a:pPr marL="620529" lvl="1" indent="-310264" algn="just">
              <a:lnSpc>
                <a:spcPts val="4023"/>
              </a:lnSpc>
              <a:buFont typeface="Arial"/>
              <a:buChar char="•"/>
            </a:pPr>
            <a:r>
              <a:rPr lang="en-US" sz="2874" b="1" dirty="0">
                <a:solidFill>
                  <a:srgbClr val="1D3616"/>
                </a:solidFill>
                <a:latin typeface="Roboto Bold"/>
                <a:ea typeface="Roboto Bold"/>
                <a:cs typeface="Roboto Bold"/>
                <a:sym typeface="Roboto Bold"/>
              </a:rPr>
              <a:t>You can only use provided template for making the PPT without changing the idea details pointers (mentioned in previous slides).</a:t>
            </a:r>
          </a:p>
          <a:p>
            <a:pPr marL="620529" lvl="1" indent="-310264" algn="just">
              <a:lnSpc>
                <a:spcPts val="4023"/>
              </a:lnSpc>
              <a:buFont typeface="Arial"/>
              <a:buChar char="•"/>
            </a:pPr>
            <a:r>
              <a:rPr lang="en-US" sz="2874" b="1" dirty="0">
                <a:solidFill>
                  <a:srgbClr val="1D3616"/>
                </a:solidFill>
                <a:latin typeface="Roboto Bold"/>
                <a:ea typeface="Roboto Bold"/>
                <a:cs typeface="Roboto Bold"/>
                <a:sym typeface="Roboto Bold"/>
              </a:rPr>
              <a:t>You need to save the file in PDF and upload the same on portal. No PPT, Word Doc or any other format will be supported.</a:t>
            </a:r>
          </a:p>
          <a:p>
            <a:pPr algn="just">
              <a:lnSpc>
                <a:spcPts val="4023"/>
              </a:lnSpc>
            </a:pPr>
            <a:endParaRPr lang="en-US" sz="2874" b="1" dirty="0">
              <a:solidFill>
                <a:srgbClr val="1D3616"/>
              </a:solidFill>
              <a:latin typeface="Roboto Bold"/>
              <a:ea typeface="Roboto Bold"/>
              <a:cs typeface="Roboto Bold"/>
              <a:sym typeface="Roboto Bold"/>
            </a:endParaRPr>
          </a:p>
          <a:p>
            <a:pPr algn="just">
              <a:lnSpc>
                <a:spcPts val="4023"/>
              </a:lnSpc>
            </a:pPr>
            <a:endParaRPr lang="en-US" sz="2874" b="1" dirty="0">
              <a:solidFill>
                <a:srgbClr val="1D3616"/>
              </a:solidFill>
              <a:latin typeface="Roboto Bold"/>
              <a:ea typeface="Roboto Bold"/>
              <a:cs typeface="Roboto Bold"/>
              <a:sym typeface="Roboto Bold"/>
            </a:endParaRPr>
          </a:p>
          <a:p>
            <a:pPr algn="just">
              <a:lnSpc>
                <a:spcPts val="4023"/>
              </a:lnSpc>
            </a:pPr>
            <a:r>
              <a:rPr lang="en-US" sz="2874" b="1" dirty="0">
                <a:solidFill>
                  <a:srgbClr val="AD292F"/>
                </a:solidFill>
                <a:latin typeface="Roboto Bold"/>
                <a:ea typeface="Roboto Bold"/>
                <a:cs typeface="Roboto Bold"/>
                <a:sym typeface="Roboto Bold"/>
              </a:rPr>
              <a:t>Note - You should delete this slide (IMPORTANT INSTRUCTIONS) when you Submitting the details of your idea</a:t>
            </a:r>
            <a:r>
              <a:rPr lang="en-US" sz="2874" b="1" dirty="0">
                <a:solidFill>
                  <a:srgbClr val="1D3616"/>
                </a:solidFill>
                <a:latin typeface="Roboto Bold"/>
                <a:ea typeface="Roboto Bold"/>
                <a:cs typeface="Roboto Bold"/>
                <a:sym typeface="Roboto Bold"/>
              </a:rPr>
              <a:t>.</a:t>
            </a:r>
          </a:p>
        </p:txBody>
      </p:sp>
      <p:sp>
        <p:nvSpPr>
          <p:cNvPr id="25" name="TextBox 25"/>
          <p:cNvSpPr txBox="1"/>
          <p:nvPr/>
        </p:nvSpPr>
        <p:spPr>
          <a:xfrm>
            <a:off x="1981642" y="2048987"/>
            <a:ext cx="14619347" cy="540384"/>
          </a:xfrm>
          <a:prstGeom prst="rect">
            <a:avLst/>
          </a:prstGeom>
        </p:spPr>
        <p:txBody>
          <a:bodyPr lIns="0" tIns="0" rIns="0" bIns="0" rtlCol="0" anchor="t">
            <a:spAutoFit/>
          </a:bodyPr>
          <a:lstStyle/>
          <a:p>
            <a:pPr algn="just">
              <a:lnSpc>
                <a:spcPts val="4340"/>
              </a:lnSpc>
            </a:pPr>
            <a:r>
              <a:rPr lang="en-US" sz="3100" b="1" dirty="0">
                <a:solidFill>
                  <a:srgbClr val="1800AD"/>
                </a:solidFill>
                <a:latin typeface="Roboto Bold"/>
                <a:ea typeface="Roboto Bold"/>
                <a:cs typeface="Roboto Bold"/>
                <a:sym typeface="Roboto Bold"/>
              </a:rPr>
              <a:t>Please ensure below pointers are met while submitting the Idea PPT:</a:t>
            </a:r>
          </a:p>
        </p:txBody>
      </p:sp>
      <p:sp>
        <p:nvSpPr>
          <p:cNvPr id="26" name="TextBox 26"/>
          <p:cNvSpPr txBox="1"/>
          <p:nvPr/>
        </p:nvSpPr>
        <p:spPr>
          <a:xfrm>
            <a:off x="1365592" y="853769"/>
            <a:ext cx="15556815" cy="897682"/>
          </a:xfrm>
          <a:prstGeom prst="rect">
            <a:avLst/>
          </a:prstGeom>
        </p:spPr>
        <p:txBody>
          <a:bodyPr lIns="0" tIns="0" rIns="0" bIns="0" rtlCol="0" anchor="t">
            <a:spAutoFit/>
          </a:bodyPr>
          <a:lstStyle/>
          <a:p>
            <a:pPr algn="ctr">
              <a:lnSpc>
                <a:spcPts val="7000"/>
              </a:lnSpc>
            </a:pPr>
            <a:r>
              <a:rPr lang="en-US" sz="5000" dirty="0">
                <a:solidFill>
                  <a:srgbClr val="545454"/>
                </a:solidFill>
                <a:latin typeface="Georgia" pitchFamily="18" charset="0"/>
                <a:ea typeface="Hussar Bold"/>
                <a:cs typeface="Hussar Bold"/>
                <a:sym typeface="Hussar Bold"/>
              </a:rPr>
              <a:t>IMPORTANT INSTRUCTIONS</a:t>
            </a:r>
          </a:p>
        </p:txBody>
      </p:sp>
      <p:sp>
        <p:nvSpPr>
          <p:cNvPr id="27" name="Freeform 27"/>
          <p:cNvSpPr/>
          <p:nvPr/>
        </p:nvSpPr>
        <p:spPr>
          <a:xfrm>
            <a:off x="432650" y="525175"/>
            <a:ext cx="1571648" cy="1338540"/>
          </a:xfrm>
          <a:custGeom>
            <a:avLst/>
            <a:gdLst/>
            <a:ahLst/>
            <a:cxnLst/>
            <a:rect l="l" t="t" r="r" b="b"/>
            <a:pathLst>
              <a:path w="1571648" h="1338540">
                <a:moveTo>
                  <a:pt x="0" y="0"/>
                </a:moveTo>
                <a:lnTo>
                  <a:pt x="1571648" y="0"/>
                </a:lnTo>
                <a:lnTo>
                  <a:pt x="1571648" y="1338541"/>
                </a:lnTo>
                <a:lnTo>
                  <a:pt x="0" y="1338541"/>
                </a:lnTo>
                <a:lnTo>
                  <a:pt x="0" y="0"/>
                </a:lnTo>
                <a:close/>
              </a:path>
            </a:pathLst>
          </a:custGeom>
          <a:blipFill>
            <a:blip r:embed="rId3"/>
            <a:stretch>
              <a:fillRect l="-9405" t="-13167" r="-9405" b="-26334"/>
            </a:stretch>
          </a:blipFill>
        </p:spPr>
      </p:sp>
      <p:sp>
        <p:nvSpPr>
          <p:cNvPr id="28" name="Freeform 28"/>
          <p:cNvSpPr/>
          <p:nvPr/>
        </p:nvSpPr>
        <p:spPr>
          <a:xfrm>
            <a:off x="2169880" y="525175"/>
            <a:ext cx="1170836" cy="1246028"/>
          </a:xfrm>
          <a:custGeom>
            <a:avLst/>
            <a:gdLst/>
            <a:ahLst/>
            <a:cxnLst/>
            <a:rect l="l" t="t" r="r" b="b"/>
            <a:pathLst>
              <a:path w="1170836" h="1246028">
                <a:moveTo>
                  <a:pt x="0" y="0"/>
                </a:moveTo>
                <a:lnTo>
                  <a:pt x="1170837" y="0"/>
                </a:lnTo>
                <a:lnTo>
                  <a:pt x="1170837" y="1246028"/>
                </a:lnTo>
                <a:lnTo>
                  <a:pt x="0" y="1246028"/>
                </a:lnTo>
                <a:lnTo>
                  <a:pt x="0" y="0"/>
                </a:lnTo>
                <a:close/>
              </a:path>
            </a:pathLst>
          </a:custGeom>
          <a:blipFill>
            <a:blip r:embed="rId4"/>
            <a:stretch>
              <a:fillRect/>
            </a:stretch>
          </a:blipFill>
        </p:spPr>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TotalTime>
  <Words>922</Words>
  <Application>Microsoft Office PowerPoint</Application>
  <PresentationFormat>Custom</PresentationFormat>
  <Paragraphs>112</Paragraphs>
  <Slides>11</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11</vt:i4>
      </vt:variant>
    </vt:vector>
  </HeadingPairs>
  <TitlesOfParts>
    <vt:vector size="26" baseType="lpstr">
      <vt:lpstr>Arial</vt:lpstr>
      <vt:lpstr>OpenSymbol</vt:lpstr>
      <vt:lpstr>Calibri</vt:lpstr>
      <vt:lpstr>Times New Roman MT Bold</vt:lpstr>
      <vt:lpstr>Norwester</vt:lpstr>
      <vt:lpstr>Roboto Bold</vt:lpstr>
      <vt:lpstr>Hussar Bold</vt:lpstr>
      <vt:lpstr>Frank Ruehl CLM</vt:lpstr>
      <vt:lpstr>Palatino Linotype</vt:lpstr>
      <vt:lpstr>Georgia</vt:lpstr>
      <vt:lpstr>Wingdings</vt:lpstr>
      <vt:lpstr>Perpetua Titling MT</vt:lpstr>
      <vt:lpstr>Arial Black</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Visualize'26 PPT Template</dc:title>
  <dc:creator>acer</dc:creator>
  <cp:lastModifiedBy>acer</cp:lastModifiedBy>
  <cp:revision>17</cp:revision>
  <dcterms:created xsi:type="dcterms:W3CDTF">2006-08-16T00:00:00Z</dcterms:created>
  <dcterms:modified xsi:type="dcterms:W3CDTF">2026-03-13T10:16:52Z</dcterms:modified>
  <dc:identifier>DAHDtWbs18g</dc:identifier>
</cp:coreProperties>
</file>